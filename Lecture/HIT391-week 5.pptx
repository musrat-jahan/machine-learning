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20" r:id="rId3"/>
    <p:sldId id="257" r:id="rId5"/>
    <p:sldId id="496" r:id="rId6"/>
    <p:sldId id="498" r:id="rId7"/>
    <p:sldId id="529" r:id="rId8"/>
    <p:sldId id="499" r:id="rId9"/>
    <p:sldId id="500" r:id="rId10"/>
    <p:sldId id="501" r:id="rId11"/>
    <p:sldId id="502" r:id="rId12"/>
    <p:sldId id="503" r:id="rId13"/>
    <p:sldId id="517" r:id="rId14"/>
    <p:sldId id="504" r:id="rId15"/>
    <p:sldId id="507" r:id="rId16"/>
    <p:sldId id="530" r:id="rId17"/>
    <p:sldId id="506" r:id="rId18"/>
    <p:sldId id="505" r:id="rId19"/>
    <p:sldId id="508" r:id="rId20"/>
    <p:sldId id="509" r:id="rId21"/>
    <p:sldId id="510" r:id="rId22"/>
    <p:sldId id="486" r:id="rId23"/>
    <p:sldId id="464" r:id="rId24"/>
    <p:sldId id="30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CE1"/>
    <a:srgbClr val="5D5D58"/>
    <a:srgbClr val="CC9900"/>
    <a:srgbClr val="E1CE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00" autoAdjust="0"/>
    <p:restoredTop sz="94660"/>
  </p:normalViewPr>
  <p:slideViewPr>
    <p:cSldViewPr snapToGrid="0">
      <p:cViewPr>
        <p:scale>
          <a:sx n="50" d="100"/>
          <a:sy n="50" d="100"/>
        </p:scale>
        <p:origin x="1766" y="9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0B4FF-8A65-4619-AB51-B42A1787352C}" type="datetimeFigureOut">
              <a:rPr lang="en-AU" smtClean="0"/>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1A205-2ABE-4D02-8BF5-025BAE04A912}" type="slidenum">
              <a:rPr lang="en-AU" smtClean="0"/>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The Advertising data set consists of the sales of that product in 200 different markets, along with advertising budgets for the product in each of those markets for three different media: TV, radio, and newspaper. </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C743F4-8769-40B4-85DF-6CB8DE9F66A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fld>
            <a:endParaRPr lang="en-US"/>
          </a:p>
        </p:txBody>
      </p:sp>
      <p:cxnSp>
        <p:nvCxnSpPr>
          <p:cNvPr id="7" name="Straight Connector 6"/>
          <p:cNvCxnSpPr/>
          <p:nvPr userDrawn="1"/>
        </p:nvCxnSpPr>
        <p:spPr>
          <a:xfrm>
            <a:off x="4369500" y="3525773"/>
            <a:ext cx="405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rot="2700000">
            <a:off x="7595770" y="4178240"/>
            <a:ext cx="475060" cy="1862138"/>
            <a:chOff x="5959192" y="333389"/>
            <a:chExt cx="633413" cy="1862138"/>
          </a:xfrm>
        </p:grpSpPr>
        <p:grpSp>
          <p:nvGrpSpPr>
            <p:cNvPr id="9" name="Group 8"/>
            <p:cNvGrpSpPr/>
            <p:nvPr/>
          </p:nvGrpSpPr>
          <p:grpSpPr>
            <a:xfrm>
              <a:off x="5959192" y="333389"/>
              <a:ext cx="633413" cy="1419225"/>
              <a:chOff x="5959192" y="333389"/>
              <a:chExt cx="633413" cy="1419225"/>
            </a:xfrm>
          </p:grpSpPr>
          <p:sp>
            <p:nvSpPr>
              <p:cNvPr id="11" name="Freeform 68"/>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68580" tIns="34290" rIns="68580" bIns="34290" numCol="1" anchor="t" anchorCtr="0" compatLnSpc="1"/>
              <a:lstStyle/>
              <a:p>
                <a:endParaRPr lang="en-US" sz="1350"/>
              </a:p>
            </p:txBody>
          </p:sp>
          <p:sp>
            <p:nvSpPr>
              <p:cNvPr id="12" name="Freeform 69"/>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68580" tIns="34290" rIns="68580" bIns="34290" numCol="1" anchor="t" anchorCtr="0" compatLnSpc="1"/>
              <a:lstStyle/>
              <a:p>
                <a:endParaRPr lang="en-US" sz="1350"/>
              </a:p>
            </p:txBody>
          </p:sp>
        </p:grpSp>
        <p:sp>
          <p:nvSpPr>
            <p:cNvPr id="10" name="Line 70"/>
            <p:cNvSpPr>
              <a:spLocks noChangeShapeType="1"/>
            </p:cNvSpPr>
            <p:nvPr/>
          </p:nvSpPr>
          <p:spPr bwMode="auto">
            <a:xfrm flipV="1">
              <a:off x="6278280" y="333389"/>
              <a:ext cx="0" cy="1862138"/>
            </a:xfrm>
            <a:prstGeom prst="line">
              <a:avLst/>
            </a:prstGeom>
            <a:noFill/>
            <a:ln w="12700" cap="flat">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grpSp>
      <p:sp>
        <p:nvSpPr>
          <p:cNvPr id="13" name="Title 12"/>
          <p:cNvSpPr>
            <a:spLocks noGrp="1"/>
          </p:cNvSpPr>
          <p:nvPr>
            <p:ph type="ctrTitle"/>
          </p:nvPr>
        </p:nvSpPr>
        <p:spPr>
          <a:xfrm>
            <a:off x="1580198" y="2534920"/>
            <a:ext cx="5983129" cy="790575"/>
          </a:xfrm>
        </p:spPr>
        <p:txBody>
          <a:bodyPr anchor="ctr" anchorCtr="0">
            <a:noAutofit/>
          </a:bodyPr>
          <a:lstStyle>
            <a:lvl1pPr algn="ctr">
              <a:defRPr sz="44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EC743F4-8769-40B4-85DF-6CB8DE9F66AA}"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F2BD96E-3838-45D2-9031-D3AF67C920A5}" type="slidenum">
              <a:rPr lang="en-US" smtClean="0"/>
            </a:fld>
            <a:endParaRPr lang="en-US" dirty="0"/>
          </a:p>
        </p:txBody>
      </p:sp>
      <p:sp>
        <p:nvSpPr>
          <p:cNvPr id="6" name="Title Placeholder 1"/>
          <p:cNvSpPr>
            <a:spLocks noGrp="1"/>
          </p:cNvSpPr>
          <p:nvPr>
            <p:ph type="title"/>
          </p:nvPr>
        </p:nvSpPr>
        <p:spPr>
          <a:xfrm>
            <a:off x="742315" y="31750"/>
            <a:ext cx="7660005" cy="950595"/>
          </a:xfrm>
          <a:prstGeom prst="rect">
            <a:avLst/>
          </a:prstGeom>
        </p:spPr>
        <p:txBody>
          <a:bodyPr vert="horz" lIns="91440" tIns="45720" rIns="91440" bIns="45720" rtlCol="0" anchor="ctr" anchorCtr="0">
            <a:normAutofit/>
          </a:bodyPr>
          <a:lstStyle/>
          <a:p>
            <a:r>
              <a:rPr lang="en-US"/>
              <a:t>Click to edit Master title style</a:t>
            </a:r>
            <a:endParaRPr lang="en-US" dirty="0"/>
          </a:p>
        </p:txBody>
      </p:sp>
      <p:sp>
        <p:nvSpPr>
          <p:cNvPr id="10" name="Text Placeholder 9"/>
          <p:cNvSpPr>
            <a:spLocks noGrp="1"/>
          </p:cNvSpPr>
          <p:nvPr>
            <p:ph type="body" idx="1"/>
          </p:nvPr>
        </p:nvSpPr>
        <p:spPr>
          <a:xfrm>
            <a:off x="140335" y="982345"/>
            <a:ext cx="8469630" cy="5452110"/>
          </a:xfrm>
          <a:prstGeom prst="rect">
            <a:avLst/>
          </a:prstGeom>
        </p:spPr>
        <p:txBody>
          <a:bodyPr vert="horz" lIns="91440" tIns="45720" rIns="91440" bIns="45720" rtlCol="0">
            <a:normAutofit/>
          </a:bodyPr>
          <a:lstStyle>
            <a:lvl1pPr>
              <a:defRPr sz="2800" i="0">
                <a:latin typeface="Arial Regular" panose="020B0604020202090204" charset="0"/>
                <a:cs typeface="Arial Regular" panose="020B0604020202090204" charset="0"/>
              </a:defRPr>
            </a:lvl1pPr>
            <a:lvl2pPr>
              <a:defRPr sz="2400" i="0">
                <a:latin typeface="Arial Regular" panose="020B0604020202090204" charset="0"/>
                <a:cs typeface="Arial Regular" panose="020B0604020202090204" charset="0"/>
              </a:defRPr>
            </a:lvl2pPr>
            <a:lvl3pPr>
              <a:defRPr sz="2400" i="0">
                <a:latin typeface="Arial Regular" panose="020B0604020202090204" charset="0"/>
                <a:cs typeface="Arial Regular" panose="020B0604020202090204" charset="0"/>
              </a:defRPr>
            </a:lvl3pPr>
            <a:lvl4pPr>
              <a:defRPr i="0">
                <a:latin typeface="Arial Regular" panose="020B0604020202090204" charset="0"/>
                <a:cs typeface="Arial Regular" panose="020B0604020202090204" charset="0"/>
              </a:defRPr>
            </a:lvl4pPr>
            <a:lvl5pPr>
              <a:defRPr i="0">
                <a:latin typeface="Arial Regular" panose="020B0604020202090204" charset="0"/>
                <a:cs typeface="Arial Regular" panose="020B0604020202090204" charset="0"/>
              </a:defRPr>
            </a:lvl5pPr>
          </a:lstStyle>
          <a:p>
            <a:pPr lvl="0"/>
            <a:r>
              <a:rPr lang="en-US"/>
              <a:t>Click to edit Master text styles</a:t>
            </a:r>
            <a:endParaRPr lang="en-US"/>
          </a:p>
          <a:p>
            <a:pPr lvl="1"/>
            <a:r>
              <a:rPr lang="en-US"/>
              <a:t>- 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EC743F4-8769-40B4-85DF-6CB8DE9F66AA}"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F2BD96E-3838-45D2-9031-D3AF67C920A5}" type="slidenum">
              <a:rPr lang="en-US" smtClean="0"/>
            </a:fld>
            <a:endParaRPr lang="en-US" dirty="0"/>
          </a:p>
        </p:txBody>
      </p:sp>
      <p:sp>
        <p:nvSpPr>
          <p:cNvPr id="8" name="Text Placeholder 7"/>
          <p:cNvSpPr>
            <a:spLocks noGrp="1"/>
          </p:cNvSpPr>
          <p:nvPr>
            <p:ph type="body" idx="1"/>
          </p:nvPr>
        </p:nvSpPr>
        <p:spPr>
          <a:xfrm>
            <a:off x="337820" y="982345"/>
            <a:ext cx="8469630" cy="5452110"/>
          </a:xfrm>
          <a:prstGeom prst="rect">
            <a:avLst/>
          </a:prstGeom>
        </p:spPr>
        <p:txBody>
          <a:bodyPr vert="horz" lIns="91440" tIns="45720" rIns="91440" bIns="45720" rtlCol="0">
            <a:normAutofit/>
          </a:bodyPr>
          <a:lstStyle>
            <a:lvl1pPr>
              <a:defRPr sz="2800" i="0">
                <a:latin typeface="Arial Regular" panose="020B0604020202090204" charset="0"/>
                <a:cs typeface="Arial Regular" panose="020B0604020202090204" charset="0"/>
              </a:defRPr>
            </a:lvl1pPr>
            <a:lvl2pPr>
              <a:defRPr sz="2400" i="0">
                <a:latin typeface="Arial Regular" panose="020B0604020202090204" charset="0"/>
                <a:cs typeface="Arial Regular" panose="020B0604020202090204" charset="0"/>
              </a:defRPr>
            </a:lvl2pPr>
            <a:lvl3pPr>
              <a:defRPr sz="2400" i="0">
                <a:latin typeface="Arial Regular" panose="020B0604020202090204" charset="0"/>
                <a:cs typeface="Arial Regular" panose="020B0604020202090204" charset="0"/>
              </a:defRPr>
            </a:lvl3pPr>
            <a:lvl4pPr>
              <a:defRPr i="0">
                <a:latin typeface="Arial Regular" panose="020B0604020202090204" charset="0"/>
                <a:cs typeface="Arial Regular" panose="020B0604020202090204" charset="0"/>
              </a:defRPr>
            </a:lvl4pPr>
            <a:lvl5pPr>
              <a:defRPr i="0">
                <a:latin typeface="Arial Regular" panose="020B0604020202090204" charset="0"/>
                <a:cs typeface="Arial Regular" panose="020B0604020202090204" charset="0"/>
              </a:defRPr>
            </a:lvl5pPr>
          </a:lstStyle>
          <a:p>
            <a:pPr lvl="0"/>
            <a:r>
              <a:rPr lang="en-US"/>
              <a:t>Click to edit Master text styles</a:t>
            </a:r>
            <a:endParaRPr lang="en-US"/>
          </a:p>
          <a:p>
            <a:pPr lvl="1"/>
            <a:r>
              <a:rPr lang="en-US"/>
              <a:t>- 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Title Placeholder 1"/>
          <p:cNvSpPr>
            <a:spLocks noGrp="1"/>
          </p:cNvSpPr>
          <p:nvPr>
            <p:ph type="title"/>
          </p:nvPr>
        </p:nvSpPr>
        <p:spPr>
          <a:xfrm>
            <a:off x="742315" y="31750"/>
            <a:ext cx="7660005" cy="950595"/>
          </a:xfrm>
          <a:prstGeom prst="rect">
            <a:avLst/>
          </a:prstGeom>
        </p:spPr>
        <p:txBody>
          <a:bodyPr vert="horz" lIns="91440" tIns="45720" rIns="91440" bIns="45720" rtlCol="0" anchor="ctr" anchorCtr="0">
            <a:normAutofit/>
          </a:body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Rectangle 2061"/>
          <p:cNvSpPr>
            <a:spLocks noGrp="1" noChangeArrowheads="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dirty="0"/>
            </a:fld>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64A591B-6E94-4F86-A909-734330CDD1BE}"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4572000" y="1295400"/>
            <a:ext cx="4114800" cy="2514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4572000" y="3962400"/>
            <a:ext cx="4114800" cy="2514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Date Placeholder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64A591B-6E94-4F86-A909-734330CDD1BE}"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Slide Number Placeholder 7"/>
          <p:cNvSpPr>
            <a:spLocks noGrp="1"/>
          </p:cNvSpPr>
          <p:nvPr>
            <p:ph type="sldNum" sz="quarter" idx="12"/>
          </p:nvPr>
        </p:nvSpPr>
        <p:spPr/>
        <p:txBody>
          <a:bodyPr/>
          <a:lstStyle/>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04800" y="1295400"/>
            <a:ext cx="4114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572000" y="1295400"/>
            <a:ext cx="41148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64A591B-6E94-4F86-A909-734330CDD1BE}"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2950" y="31750"/>
            <a:ext cx="7660005" cy="950595"/>
          </a:xfrm>
          <a:prstGeom prst="rect">
            <a:avLst/>
          </a:prstGeom>
        </p:spPr>
        <p:txBody>
          <a:bodyPr vert="horz" lIns="91440" tIns="45720" rIns="91440" bIns="45720" rtlCol="0" anchor="ctr" anchorCtr="0">
            <a:normAutofit/>
          </a:bodyPr>
          <a:lstStyle/>
          <a:p>
            <a:r>
              <a:rPr lang="en-US"/>
              <a:t>Click to edit Master title style</a:t>
            </a:r>
            <a:endParaRPr lang="en-US" dirty="0"/>
          </a:p>
        </p:txBody>
      </p:sp>
      <p:sp>
        <p:nvSpPr>
          <p:cNvPr id="4" name="Date Placeholder 3"/>
          <p:cNvSpPr>
            <a:spLocks noGrp="1"/>
          </p:cNvSpPr>
          <p:nvPr>
            <p:ph type="dt" sz="half" idx="2"/>
          </p:nvPr>
        </p:nvSpPr>
        <p:spPr>
          <a:xfrm>
            <a:off x="337500" y="6357168"/>
            <a:ext cx="1320113"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fld>
            <a:endParaRPr lang="en-US" dirty="0"/>
          </a:p>
        </p:txBody>
      </p:sp>
      <p:sp>
        <p:nvSpPr>
          <p:cNvPr id="5" name="Footer Placeholder 4"/>
          <p:cNvSpPr>
            <a:spLocks noGrp="1"/>
          </p:cNvSpPr>
          <p:nvPr>
            <p:ph type="ftr" sz="quarter" idx="3"/>
          </p:nvPr>
        </p:nvSpPr>
        <p:spPr>
          <a:xfrm>
            <a:off x="2065734" y="6357600"/>
            <a:ext cx="5012532"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p:cNvSpPr>
            <a:spLocks noGrp="1"/>
          </p:cNvSpPr>
          <p:nvPr>
            <p:ph type="sldNum" sz="quarter" idx="4"/>
          </p:nvPr>
        </p:nvSpPr>
        <p:spPr>
          <a:xfrm>
            <a:off x="7487100" y="6357600"/>
            <a:ext cx="1320113"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fld>
            <a:endParaRPr lang="en-US" dirty="0"/>
          </a:p>
        </p:txBody>
      </p:sp>
      <p:sp>
        <p:nvSpPr>
          <p:cNvPr id="7" name="Text Placeholder 6"/>
          <p:cNvSpPr>
            <a:spLocks noGrp="1"/>
          </p:cNvSpPr>
          <p:nvPr>
            <p:ph type="body" idx="1"/>
          </p:nvPr>
        </p:nvSpPr>
        <p:spPr>
          <a:xfrm>
            <a:off x="125095" y="982345"/>
            <a:ext cx="8469630" cy="5452110"/>
          </a:xfrm>
          <a:prstGeom prst="rect">
            <a:avLst/>
          </a:prstGeom>
        </p:spPr>
        <p:txBody>
          <a:bodyPr vert="horz" lIns="91440" tIns="45720" rIns="91440" bIns="45720" rtlCol="0">
            <a:normAutofit/>
          </a:bodyPr>
          <a:lstStyle>
            <a:lvl1pPr>
              <a:defRPr sz="2800" i="0">
                <a:latin typeface="Arial Regular" panose="020B0604020202090204" charset="0"/>
                <a:cs typeface="Arial Regular" panose="020B0604020202090204" charset="0"/>
              </a:defRPr>
            </a:lvl1pPr>
            <a:lvl2pPr>
              <a:defRPr sz="2400" i="0">
                <a:latin typeface="Arial Regular" panose="020B0604020202090204" charset="0"/>
                <a:cs typeface="Arial Regular" panose="020B0604020202090204" charset="0"/>
              </a:defRPr>
            </a:lvl2pPr>
            <a:lvl3pPr>
              <a:defRPr sz="2400" i="0">
                <a:latin typeface="Arial Regular" panose="020B0604020202090204" charset="0"/>
                <a:cs typeface="Arial Regular" panose="020B0604020202090204" charset="0"/>
              </a:defRPr>
            </a:lvl3pPr>
            <a:lvl4pPr>
              <a:defRPr i="0">
                <a:latin typeface="Arial Regular" panose="020B0604020202090204" charset="0"/>
                <a:cs typeface="Arial Regular" panose="020B0604020202090204" charset="0"/>
              </a:defRPr>
            </a:lvl4pPr>
            <a:lvl5pPr>
              <a:defRPr i="0">
                <a:latin typeface="Arial Regular" panose="020B0604020202090204" charset="0"/>
                <a:cs typeface="Arial Regular" panose="020B0604020202090204"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45" indent="-360045" algn="l" defTabSz="914400" rtl="0" eaLnBrk="1" latinLnBrk="0" hangingPunct="1">
        <a:lnSpc>
          <a:spcPct val="150000"/>
        </a:lnSpc>
        <a:spcBef>
          <a:spcPts val="1000"/>
        </a:spcBef>
        <a:buClr>
          <a:schemeClr val="accent3"/>
        </a:buClr>
        <a:buFont typeface="Wingdings" panose="05000000000000000000" charset="0"/>
        <a:buChar char=""/>
        <a:defRPr sz="2000" i="0" kern="1200" spc="50">
          <a:solidFill>
            <a:schemeClr val="tx1"/>
          </a:solidFill>
          <a:latin typeface="+mn-lt"/>
          <a:ea typeface="+mn-ea"/>
          <a:cs typeface="+mn-lt"/>
        </a:defRPr>
      </a:lvl1pPr>
      <a:lvl2pPr marL="702945" indent="-342900" algn="l" defTabSz="914400" rtl="0" eaLnBrk="1" latinLnBrk="0" hangingPunct="1">
        <a:lnSpc>
          <a:spcPct val="150000"/>
        </a:lnSpc>
        <a:spcBef>
          <a:spcPts val="500"/>
        </a:spcBef>
        <a:buFont typeface="Tahoma" panose="020B0604030504040204" pitchFamily="34" charset="0"/>
        <a:buChar char="–"/>
        <a:defRPr sz="2000" b="0" i="0" kern="1200" spc="50" baseline="0">
          <a:solidFill>
            <a:schemeClr val="tx1"/>
          </a:solidFill>
          <a:latin typeface="+mn-lt"/>
          <a:ea typeface="+mn-ea"/>
          <a:cs typeface="+mn-lt"/>
        </a:defRPr>
      </a:lvl2pPr>
      <a:lvl3pPr marL="1080135" indent="-360045" algn="l" defTabSz="914400" rtl="0" eaLnBrk="1" latinLnBrk="0" hangingPunct="1">
        <a:lnSpc>
          <a:spcPct val="150000"/>
        </a:lnSpc>
        <a:spcBef>
          <a:spcPts val="500"/>
        </a:spcBef>
        <a:buClr>
          <a:schemeClr val="accent3"/>
        </a:buClr>
        <a:buFont typeface="Wingdings" panose="05000000000000000000" pitchFamily="2" charset="2"/>
        <a:buChar char=""/>
        <a:defRPr sz="2000" i="0" kern="1200" spc="50">
          <a:solidFill>
            <a:schemeClr val="tx1"/>
          </a:solidFill>
          <a:latin typeface="+mn-lt"/>
          <a:ea typeface="+mn-ea"/>
          <a:cs typeface="+mn-lt"/>
        </a:defRPr>
      </a:lvl3pPr>
      <a:lvl4pPr marL="1080135" indent="0" algn="l" defTabSz="914400" rtl="0" eaLnBrk="1" latinLnBrk="0" hangingPunct="1">
        <a:lnSpc>
          <a:spcPct val="150000"/>
        </a:lnSpc>
        <a:spcBef>
          <a:spcPts val="500"/>
        </a:spcBef>
        <a:buClr>
          <a:schemeClr val="accent3"/>
        </a:buClr>
        <a:buFontTx/>
        <a:buNone/>
        <a:defRPr sz="2000" b="0" i="0" kern="1200" spc="50" baseline="0">
          <a:solidFill>
            <a:schemeClr val="tx1"/>
          </a:solidFill>
          <a:latin typeface="+mn-lt"/>
          <a:ea typeface="+mn-ea"/>
          <a:cs typeface="+mn-lt"/>
        </a:defRPr>
      </a:lvl4pPr>
      <a:lvl5pPr marL="1800225" indent="-360045" algn="l" defTabSz="914400" rtl="0" eaLnBrk="1" latinLnBrk="0" hangingPunct="1">
        <a:lnSpc>
          <a:spcPct val="150000"/>
        </a:lnSpc>
        <a:spcBef>
          <a:spcPts val="500"/>
        </a:spcBef>
        <a:buClr>
          <a:schemeClr val="accent3"/>
        </a:buClr>
        <a:buFont typeface="Wingdings" panose="05000000000000000000" pitchFamily="2" charset="2"/>
        <a:buChar char=""/>
        <a:defRPr sz="2000" i="0" kern="1200" spc="50">
          <a:solidFill>
            <a:schemeClr val="tx1"/>
          </a:solidFill>
          <a:latin typeface="+mn-lt"/>
          <a:ea typeface="+mn-ea"/>
          <a:cs typeface="+mn-lt"/>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hyperlink" Target="https://keras.io/api/" TargetMode="External"/><Relationship Id="rId6" Type="http://schemas.openxmlformats.org/officeDocument/2006/relationships/hyperlink" Target="https://pytorch.org/tutorials/" TargetMode="External"/><Relationship Id="rId5" Type="http://schemas.openxmlformats.org/officeDocument/2006/relationships/hyperlink" Target="https://www.tensorflow.org/tutorials/quickstart/beginner" TargetMode="External"/><Relationship Id="rId4" Type="http://schemas.openxmlformats.org/officeDocument/2006/relationships/hyperlink" Target="https://scikit-learn.org/stable/tutorial/index.html" TargetMode="External"/><Relationship Id="rId3" Type="http://schemas.openxmlformats.org/officeDocument/2006/relationships/hyperlink" Target="https://datadependence.com/2016/05/scientific-python-pandas/" TargetMode="External"/><Relationship Id="rId2" Type="http://schemas.openxmlformats.org/officeDocument/2006/relationships/hyperlink" Target="https://datadependence.com/2016/04/scientific-python-matplotlib/" TargetMode="External"/><Relationship Id="rId1" Type="http://schemas.openxmlformats.org/officeDocument/2006/relationships/hyperlink" Target="https://datadependence.com/2016/05/scientific-python-nump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hyperlink" Target="https://www.statlearning.com/" TargetMode="External"/><Relationship Id="rId1" Type="http://schemas.openxmlformats.org/officeDocument/2006/relationships/hyperlink" Target="https://www.statlearning.com/resources-pyth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Title 5"/>
          <p:cNvSpPr>
            <a:spLocks noGrp="1"/>
          </p:cNvSpPr>
          <p:nvPr>
            <p:ph type="ctrTitle"/>
          </p:nvPr>
        </p:nvSpPr>
        <p:spPr>
          <a:xfrm>
            <a:off x="5658115" y="1510542"/>
            <a:ext cx="3378291" cy="1603800"/>
          </a:xfrm>
        </p:spPr>
        <p:txBody>
          <a:bodyPr>
            <a:noAutofit/>
          </a:bodyPr>
          <a:lstStyle/>
          <a:p>
            <a:r>
              <a:rPr lang="en-AU" sz="3000" b="1" u="sng" dirty="0"/>
              <a:t>HIT391</a:t>
            </a:r>
            <a:br>
              <a:rPr lang="en-AU" sz="3000" b="1" u="sng" dirty="0"/>
            </a:br>
            <a:br>
              <a:rPr lang="en-AU" sz="3000" dirty="0"/>
            </a:br>
            <a:r>
              <a:rPr lang="en-AU" sz="2400" dirty="0"/>
              <a:t>MACHINE LEARNING: ADVANCEMENTS </a:t>
            </a:r>
            <a:r>
              <a:rPr lang="en-US" altLang="en-AU" sz="2400" dirty="0"/>
              <a:t>AND</a:t>
            </a:r>
            <a:r>
              <a:rPr lang="en-AU" sz="2400" dirty="0"/>
              <a:t> APPLICATION</a:t>
            </a:r>
            <a:r>
              <a:rPr lang="en-US" altLang="en-AU" sz="2400" dirty="0"/>
              <a:t>S</a:t>
            </a:r>
            <a:endParaRPr lang="en-US" altLang="en-AU" sz="2400" dirty="0"/>
          </a:p>
        </p:txBody>
      </p:sp>
      <p:pic>
        <p:nvPicPr>
          <p:cNvPr id="2" name="Picture 1" descr="A digital network connection"/>
          <p:cNvPicPr>
            <a:picLocks noChangeAspect="1"/>
          </p:cNvPicPr>
          <p:nvPr/>
        </p:nvPicPr>
        <p:blipFill rotWithShape="1">
          <a:blip r:embed="rId1"/>
          <a:srcRect r="11139"/>
          <a:stretch>
            <a:fillRect/>
          </a:stretch>
        </p:blipFill>
        <p:spPr>
          <a:xfrm>
            <a:off x="0" y="-635"/>
            <a:ext cx="5408930" cy="6858000"/>
          </a:xfrm>
          <a:prstGeom prst="rect">
            <a:avLst/>
          </a:prstGeom>
        </p:spPr>
      </p:pic>
      <p:cxnSp>
        <p:nvCxnSpPr>
          <p:cNvPr id="14" name="Straight Connector 13"/>
          <p:cNvCxnSpPr>
            <a:cxnSpLocks noGrp="1" noRot="1" noChangeAspect="1" noMove="1" noResize="1" noEditPoints="1" noAdjustHandles="1" noChangeArrowheads="1" noChangeShapeType="1"/>
          </p:cNvCxnSpPr>
          <p:nvPr/>
        </p:nvCxnSpPr>
        <p:spPr>
          <a:xfrm>
            <a:off x="7074005" y="3625403"/>
            <a:ext cx="405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1026" name="Picture 2" descr="Charles Darwin University - ACICIS. Study Indonesia."/>
          <p:cNvPicPr>
            <a:picLocks noChangeAspect="1" noChangeArrowheads="1"/>
          </p:cNvPicPr>
          <p:nvPr/>
        </p:nvPicPr>
        <p:blipFill>
          <a:blip r:embed="rId2" cstate="print">
            <a:alphaModFix amt="71000"/>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7849961" y="4706726"/>
            <a:ext cx="1294025" cy="1294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864076"/>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ctrTitle"/>
          </p:nvPr>
        </p:nvSpPr>
        <p:spPr>
          <a:xfrm>
            <a:off x="53975" y="153670"/>
            <a:ext cx="9035415" cy="1688465"/>
          </a:xfrm>
        </p:spPr>
        <p:txBody>
          <a:bodyPr vert="horz" lIns="68580" tIns="34290" rIns="68580" bIns="34290" rtlCol="0" anchor="ctr" anchorCtr="0">
            <a:normAutofit/>
          </a:bodyPr>
          <a:lstStyle/>
          <a:p>
            <a:r>
              <a:rPr lang="en-US" sz="3200" b="1" kern="1200" cap="none" spc="0" baseline="0" dirty="0">
                <a:solidFill>
                  <a:schemeClr val="tx1"/>
                </a:solidFill>
                <a:latin typeface="+mj-lt"/>
                <a:ea typeface="+mj-ea"/>
                <a:cs typeface="+mj-cs"/>
              </a:rPr>
              <a:t>Week 5:</a:t>
            </a:r>
            <a:br>
              <a:rPr lang="en-US" sz="3200" b="1" kern="1200" cap="none" spc="0" baseline="0" dirty="0">
                <a:solidFill>
                  <a:schemeClr val="tx1"/>
                </a:solidFill>
                <a:latin typeface="+mj-lt"/>
                <a:ea typeface="+mj-ea"/>
                <a:cs typeface="+mj-cs"/>
              </a:rPr>
            </a:br>
            <a:r>
              <a:rPr lang="en-US" sz="3200" b="1" dirty="0"/>
              <a:t>Supervised Learning - </a:t>
            </a:r>
            <a:r>
              <a:rPr lang="en-US" sz="3200" b="1" kern="1200" cap="none" spc="0" baseline="0" dirty="0">
                <a:solidFill>
                  <a:schemeClr val="tx1"/>
                </a:solidFill>
                <a:latin typeface="+mj-lt"/>
                <a:ea typeface="+mj-ea"/>
                <a:cs typeface="+mj-cs"/>
              </a:rPr>
              <a:t>Linear Regression</a:t>
            </a:r>
            <a:endParaRPr lang="en-US" sz="3200" b="1" kern="1200" cap="none" spc="0" baseline="0" dirty="0">
              <a:solidFill>
                <a:srgbClr val="000000"/>
              </a:solidFill>
              <a:effectLst/>
              <a:latin typeface="+mj-lt"/>
              <a:ea typeface="Arial" panose="020B0604020202090204" pitchFamily="34" charset="0"/>
              <a:cs typeface="Arial" panose="020B0604020202090204" pitchFamily="34" charset="0"/>
            </a:endParaRPr>
          </a:p>
        </p:txBody>
      </p:sp>
      <p:grpSp>
        <p:nvGrpSpPr>
          <p:cNvPr id="11" name="Group 10"/>
          <p:cNvGrpSpPr>
            <a:grpSpLocks noGrp="1" noRot="1" noChangeAspect="1" noMove="1" noResize="1" noUngrp="1"/>
          </p:cNvGrpSpPr>
          <p:nvPr/>
        </p:nvGrpSpPr>
        <p:grpSpPr>
          <a:xfrm>
            <a:off x="415768" y="1006067"/>
            <a:ext cx="591606" cy="955221"/>
            <a:chOff x="554357" y="198422"/>
            <a:chExt cx="788808" cy="1273628"/>
          </a:xfrm>
        </p:grpSpPr>
        <p:sp>
          <p:nvSpPr>
            <p:cNvPr id="12" name="Oval 11"/>
            <p:cNvSpPr/>
            <p:nvPr/>
          </p:nvSpPr>
          <p:spPr>
            <a:xfrm rot="10800000">
              <a:off x="1002750" y="198422"/>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68580" tIns="34290" rIns="68580" bIns="34290" numCol="1" anchor="t" anchorCtr="0" compatLnSpc="1"/>
            <a:lstStyle/>
            <a:p>
              <a:endParaRPr lang="en-US" sz="1350" dirty="0">
                <a:solidFill>
                  <a:schemeClr val="tx1"/>
                </a:solidFill>
              </a:endParaRPr>
            </a:p>
          </p:txBody>
        </p:sp>
        <p:grpSp>
          <p:nvGrpSpPr>
            <p:cNvPr id="13" name="Group 12"/>
            <p:cNvGrpSpPr/>
            <p:nvPr/>
          </p:nvGrpSpPr>
          <p:grpSpPr>
            <a:xfrm rot="8100000" flipH="1">
              <a:off x="554357" y="402322"/>
              <a:ext cx="641183" cy="1069728"/>
              <a:chOff x="6484112" y="2967038"/>
              <a:chExt cx="641183" cy="1069728"/>
            </a:xfrm>
          </p:grpSpPr>
          <p:grpSp>
            <p:nvGrpSpPr>
              <p:cNvPr id="22" name="Group 13"/>
              <p:cNvGrpSpPr/>
              <p:nvPr/>
            </p:nvGrpSpPr>
            <p:grpSpPr>
              <a:xfrm>
                <a:off x="6808136" y="2967038"/>
                <a:ext cx="317159" cy="932400"/>
                <a:chOff x="6808136" y="2967038"/>
                <a:chExt cx="317159" cy="932400"/>
              </a:xfrm>
            </p:grpSpPr>
            <p:sp>
              <p:nvSpPr>
                <p:cNvPr id="19" name="Freeform 68"/>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68580" tIns="34290" rIns="68580" bIns="34290" numCol="1" anchor="t" anchorCtr="0" compatLnSpc="1"/>
                <a:lstStyle/>
                <a:p>
                  <a:endParaRPr lang="en-US" sz="1350"/>
                </a:p>
              </p:txBody>
            </p:sp>
            <p:sp>
              <p:nvSpPr>
                <p:cNvPr id="20" name="Freeform 69"/>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68580" tIns="34290" rIns="68580" bIns="34290" numCol="1" anchor="t" anchorCtr="0" compatLnSpc="1"/>
                <a:lstStyle/>
                <a:p>
                  <a:endParaRPr lang="en-US" sz="1350"/>
                </a:p>
              </p:txBody>
            </p:sp>
            <p:sp>
              <p:nvSpPr>
                <p:cNvPr id="21" name="Line 70"/>
                <p:cNvSpPr>
                  <a:spLocks noChangeShapeType="1"/>
                </p:cNvSpPr>
                <p:nvPr/>
              </p:nvSpPr>
              <p:spPr bwMode="auto">
                <a:xfrm flipV="1">
                  <a:off x="6967908" y="2967038"/>
                  <a:ext cx="0" cy="932400"/>
                </a:xfrm>
                <a:prstGeom prst="line">
                  <a:avLst/>
                </a:prstGeom>
                <a:noFill/>
                <a:ln w="12700" cap="flat">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grpSp>
          <p:grpSp>
            <p:nvGrpSpPr>
              <p:cNvPr id="24" name="Group 14"/>
              <p:cNvGrpSpPr/>
              <p:nvPr/>
            </p:nvGrpSpPr>
            <p:grpSpPr>
              <a:xfrm rot="18900000" flipH="1">
                <a:off x="6484112" y="3104366"/>
                <a:ext cx="317159" cy="932400"/>
                <a:chOff x="6808136" y="2967038"/>
                <a:chExt cx="317159" cy="932400"/>
              </a:xfrm>
            </p:grpSpPr>
            <p:sp>
              <p:nvSpPr>
                <p:cNvPr id="25" name="Freeform 68"/>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68580" tIns="34290" rIns="68580" bIns="34290" numCol="1" anchor="t" anchorCtr="0" compatLnSpc="1"/>
                <a:lstStyle/>
                <a:p>
                  <a:endParaRPr lang="en-US" sz="1350"/>
                </a:p>
              </p:txBody>
            </p:sp>
            <p:sp>
              <p:nvSpPr>
                <p:cNvPr id="26" name="Freeform 69"/>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68580" tIns="34290" rIns="68580" bIns="34290" numCol="1" anchor="t" anchorCtr="0" compatLnSpc="1"/>
                <a:lstStyle/>
                <a:p>
                  <a:endParaRPr lang="en-US" sz="1350"/>
                </a:p>
              </p:txBody>
            </p:sp>
            <p:sp>
              <p:nvSpPr>
                <p:cNvPr id="18" name="Line 70"/>
                <p:cNvSpPr>
                  <a:spLocks noChangeShapeType="1"/>
                </p:cNvSpPr>
                <p:nvPr/>
              </p:nvSpPr>
              <p:spPr bwMode="auto">
                <a:xfrm flipV="1">
                  <a:off x="6967908" y="2967038"/>
                  <a:ext cx="0" cy="932400"/>
                </a:xfrm>
                <a:prstGeom prst="line">
                  <a:avLst/>
                </a:prstGeom>
                <a:noFill/>
                <a:ln w="12700" cap="flat">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grpSp>
        </p:grpSp>
      </p:grpSp>
      <p:cxnSp>
        <p:nvCxnSpPr>
          <p:cNvPr id="23" name="Straight Connector 22"/>
          <p:cNvCxnSpPr>
            <a:cxnSpLocks noGrp="1" noRot="1" noChangeAspect="1" noMove="1" noResize="1" noEditPoints="1" noAdjustHandles="1" noChangeArrowheads="1" noChangeShapeType="1"/>
          </p:cNvCxnSpPr>
          <p:nvPr/>
        </p:nvCxnSpPr>
        <p:spPr>
          <a:xfrm>
            <a:off x="4572000" y="3226500"/>
            <a:ext cx="0" cy="405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1007374" y="2048510"/>
            <a:ext cx="7970256" cy="3517265"/>
          </a:xfrm>
        </p:spPr>
        <p:txBody>
          <a:bodyPr vert="horz" lIns="68580" tIns="34290" rIns="68580" bIns="34290" rtlCol="0" anchor="ctr">
            <a:normAutofit/>
          </a:bodyPr>
          <a:lstStyle/>
          <a:p>
            <a:pPr algn="l">
              <a:lnSpc>
                <a:spcPct val="150000"/>
              </a:lnSpc>
              <a:buFont typeface="Wingdings" panose="05000000000000000000" charset="0"/>
              <a:buChar char=""/>
            </a:pPr>
            <a:r>
              <a:rPr lang="en-US" b="1" dirty="0"/>
              <a:t>Learning Outcomes </a:t>
            </a:r>
            <a:endParaRPr lang="en-US" b="1" dirty="0"/>
          </a:p>
          <a:p>
            <a:pPr lvl="1"/>
            <a:r>
              <a:rPr lang="en-US" dirty="0"/>
              <a:t>Linear regression</a:t>
            </a:r>
            <a:endParaRPr lang="en-US" dirty="0"/>
          </a:p>
          <a:p>
            <a:pPr lvl="1"/>
            <a:r>
              <a:rPr lang="en-US" dirty="0"/>
              <a:t>Loss Function</a:t>
            </a:r>
            <a:endParaRPr lang="en-US" dirty="0"/>
          </a:p>
          <a:p>
            <a:pPr lvl="1"/>
            <a:r>
              <a:rPr lang="en-US" dirty="0"/>
              <a:t>Measurements: </a:t>
            </a:r>
            <a:r>
              <a:rPr lang="en-US" altLang="en-AU" dirty="0">
                <a:solidFill>
                  <a:schemeClr val="tx1"/>
                </a:solidFill>
                <a:sym typeface="+mn-ea"/>
              </a:rPr>
              <a:t>MAE, MSE, RMSE,</a:t>
            </a:r>
            <a:r>
              <a:rPr lang="en-US" dirty="0"/>
              <a:t>RSE, R</a:t>
            </a:r>
            <a:r>
              <a:rPr lang="en-US" baseline="30000" dirty="0"/>
              <a:t>2</a:t>
            </a:r>
            <a:r>
              <a:rPr lang="en-US" dirty="0"/>
              <a:t> </a:t>
            </a:r>
            <a:endParaRPr lang="en-US" dirty="0"/>
          </a:p>
          <a:p>
            <a:pPr lvl="1"/>
            <a:endParaRPr lang="en-US" dirty="0"/>
          </a:p>
          <a:p>
            <a:pPr algn="l">
              <a:lnSpc>
                <a:spcPct val="150000"/>
              </a:lnSpc>
              <a:buFont typeface="Wingdings" panose="05000000000000000000" charset="0"/>
              <a:buChar char=""/>
            </a:pPr>
            <a:endParaRPr lang="en-US" b="1" dirty="0"/>
          </a:p>
          <a:p>
            <a:pPr lvl="1">
              <a:buFont typeface="Wingdings" panose="05000000000000000000" charset="0"/>
              <a:buChar char=""/>
            </a:pPr>
            <a:endParaRPr lang="en-US" sz="1500" b="1" u="sng"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Supervised Learning</a:t>
            </a:r>
            <a:endParaRPr lang="en-AU" dirty="0"/>
          </a:p>
        </p:txBody>
      </p:sp>
      <p:sp>
        <p:nvSpPr>
          <p:cNvPr id="3" name="Text Placeholder 2"/>
          <p:cNvSpPr>
            <a:spLocks noGrp="1"/>
          </p:cNvSpPr>
          <p:nvPr>
            <p:ph type="body" idx="1"/>
          </p:nvPr>
        </p:nvSpPr>
        <p:spPr/>
        <p:txBody>
          <a:bodyPr/>
          <a:lstStyle/>
          <a:p>
            <a:r>
              <a:rPr lang="en-AU" dirty="0"/>
              <a:t>Training set (</a:t>
            </a:r>
            <a:r>
              <a:rPr lang="en-AU" dirty="0" err="1"/>
              <a:t>labeled</a:t>
            </a:r>
            <a:r>
              <a:rPr lang="en-AU" dirty="0"/>
              <a:t> examples)</a:t>
            </a:r>
            <a:endParaRPr lang="en-AU" dirty="0"/>
          </a:p>
          <a:p>
            <a:endParaRPr lang="en-AU" dirty="0"/>
          </a:p>
          <a:p>
            <a:endParaRPr lang="en-AU" dirty="0"/>
          </a:p>
          <a:p>
            <a:endParaRPr lang="en-AU" dirty="0"/>
          </a:p>
          <a:p>
            <a:r>
              <a:rPr lang="en-AU" dirty="0"/>
              <a:t>Testing set (</a:t>
            </a:r>
            <a:r>
              <a:rPr lang="en-AU" dirty="0" err="1"/>
              <a:t>unlabeled</a:t>
            </a:r>
            <a:r>
              <a:rPr lang="en-AU" dirty="0"/>
              <a:t> examples)</a:t>
            </a:r>
            <a:endParaRPr lang="en-AU" dirty="0"/>
          </a:p>
          <a:p>
            <a:endParaRPr lang="en-AU" dirty="0"/>
          </a:p>
        </p:txBody>
      </p:sp>
      <p:pic>
        <p:nvPicPr>
          <p:cNvPr id="5" name="Picture 4"/>
          <p:cNvPicPr>
            <a:picLocks noChangeAspect="1"/>
          </p:cNvPicPr>
          <p:nvPr/>
        </p:nvPicPr>
        <p:blipFill>
          <a:blip r:embed="rId1"/>
          <a:stretch>
            <a:fillRect/>
          </a:stretch>
        </p:blipFill>
        <p:spPr>
          <a:xfrm>
            <a:off x="371475" y="1761032"/>
            <a:ext cx="8030696" cy="2010056"/>
          </a:xfrm>
          <a:prstGeom prst="rect">
            <a:avLst/>
          </a:prstGeom>
        </p:spPr>
      </p:pic>
      <p:pic>
        <p:nvPicPr>
          <p:cNvPr id="7" name="Picture 6"/>
          <p:cNvPicPr>
            <a:picLocks noChangeAspect="1"/>
          </p:cNvPicPr>
          <p:nvPr/>
        </p:nvPicPr>
        <p:blipFill>
          <a:blip r:embed="rId2"/>
          <a:stretch>
            <a:fillRect/>
          </a:stretch>
        </p:blipFill>
        <p:spPr>
          <a:xfrm>
            <a:off x="556652" y="4806589"/>
            <a:ext cx="5487166" cy="15242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Linear Regression</a:t>
            </a:r>
            <a:endParaRPr lang="en-AU" dirty="0"/>
          </a:p>
        </p:txBody>
      </p:sp>
      <p:sp>
        <p:nvSpPr>
          <p:cNvPr id="3" name="Text Placeholder 2"/>
          <p:cNvSpPr>
            <a:spLocks noGrp="1"/>
          </p:cNvSpPr>
          <p:nvPr>
            <p:ph type="body" idx="1"/>
          </p:nvPr>
        </p:nvSpPr>
        <p:spPr>
          <a:xfrm>
            <a:off x="128270" y="982345"/>
            <a:ext cx="8469630" cy="5452110"/>
          </a:xfrm>
        </p:spPr>
        <p:txBody>
          <a:bodyPr>
            <a:normAutofit lnSpcReduction="20000"/>
          </a:bodyPr>
          <a:lstStyle/>
          <a:p>
            <a:r>
              <a:rPr lang="en-AU" sz="2000" b="1">
                <a:latin typeface="Arial Bold" panose="020B0604020202090204" charset="0"/>
                <a:cs typeface="Arial Bold" panose="020B0604020202090204" charset="0"/>
              </a:rPr>
              <a:t>Linear regression</a:t>
            </a:r>
            <a:r>
              <a:rPr lang="en-AU" sz="2000"/>
              <a:t> is a basic yet powerful method used in supervised learning. It assumes that the target variable </a:t>
            </a:r>
            <a:r>
              <a:rPr lang="en-AU" sz="2000" b="1">
                <a:latin typeface="Arial Bold" panose="020B0604020202090204" charset="0"/>
                <a:cs typeface="Arial Bold" panose="020B0604020202090204" charset="0"/>
              </a:rPr>
              <a:t>Y</a:t>
            </a:r>
            <a:r>
              <a:rPr lang="en-AU" sz="2000"/>
              <a:t> depends linearly on the input variables X₁, X₂, ..., X</a:t>
            </a:r>
            <a:r>
              <a:rPr lang="en-US" altLang="en-AU" sz="2000" baseline="-25000"/>
              <a:t>p</a:t>
            </a:r>
            <a:r>
              <a:rPr lang="en-US" altLang="en-AU" sz="2000"/>
              <a:t>. The assumption is</a:t>
            </a:r>
            <a:endParaRPr lang="en-US" altLang="en-AU" sz="2000" baseline="-25000"/>
          </a:p>
          <a:p>
            <a:endParaRPr lang="en-AU" sz="2000" dirty="0"/>
          </a:p>
          <a:p>
            <a:pPr marL="0" indent="0">
              <a:buNone/>
            </a:pPr>
            <a:r>
              <a:rPr lang="en-US" altLang="en-AU" sz="2000" dirty="0"/>
              <a:t>     where</a:t>
            </a:r>
            <a:r>
              <a:rPr lang="en-AU" sz="2000" dirty="0"/>
              <a:t> ε is the </a:t>
            </a:r>
            <a:r>
              <a:rPr lang="en-AU" sz="2000" b="1" dirty="0">
                <a:latin typeface="Arial Bold" panose="020B0604020202090204" charset="0"/>
                <a:cs typeface="Arial Bold" panose="020B0604020202090204" charset="0"/>
              </a:rPr>
              <a:t>error term</a:t>
            </a:r>
            <a:r>
              <a:rPr lang="en-AU" sz="2000" dirty="0"/>
              <a:t> accounting for deviations from the linear relationship.</a:t>
            </a:r>
            <a:endParaRPr lang="en-AU" sz="2000" dirty="0"/>
          </a:p>
          <a:p>
            <a:pPr marL="0" indent="0">
              <a:buNone/>
            </a:pPr>
            <a:endParaRPr lang="en-AU" sz="2000" dirty="0">
              <a:solidFill>
                <a:schemeClr val="accent1"/>
              </a:solidFill>
            </a:endParaRPr>
          </a:p>
          <a:p>
            <a:pPr marL="0" indent="0">
              <a:buNone/>
            </a:pPr>
            <a:endParaRPr lang="en-AU" sz="2000" dirty="0">
              <a:solidFill>
                <a:schemeClr val="accent1"/>
              </a:solidFill>
            </a:endParaRPr>
          </a:p>
          <a:p>
            <a:pPr marL="0" indent="0">
              <a:buNone/>
            </a:pPr>
            <a:r>
              <a:rPr lang="en-AU" sz="2000" dirty="0">
                <a:solidFill>
                  <a:schemeClr val="accent1"/>
                </a:solidFill>
              </a:rPr>
              <a:t>True</a:t>
            </a:r>
            <a:r>
              <a:rPr lang="en-AU" sz="2000" dirty="0"/>
              <a:t> relationships in real-world data are rarely perfectly linear!</a:t>
            </a:r>
            <a:endParaRPr lang="en-AU" sz="2000" dirty="0"/>
          </a:p>
          <a:p>
            <a:r>
              <a:rPr lang="en-US" altLang="en-AU" sz="2000" dirty="0"/>
              <a:t>But </a:t>
            </a:r>
            <a:r>
              <a:rPr lang="en-AU" sz="2000" dirty="0"/>
              <a:t> linear regression often provides a reasonable approximation that is interpretable and useful.</a:t>
            </a:r>
            <a:endParaRPr lang="en-AU" sz="2000" dirty="0"/>
          </a:p>
          <a:p>
            <a:endParaRPr lang="en-AU" dirty="0"/>
          </a:p>
          <a:p>
            <a:endParaRPr lang="en-AU" dirty="0"/>
          </a:p>
          <a:p>
            <a:pPr lvl="1"/>
            <a:endParaRPr lang="en-AU" sz="2000" dirty="0"/>
          </a:p>
          <a:p>
            <a:pPr lvl="1"/>
            <a:endParaRPr lang="en-AU" sz="2000" dirty="0"/>
          </a:p>
          <a:p>
            <a:pPr lvl="1"/>
            <a:endParaRPr lang="en-AU" sz="2000" dirty="0"/>
          </a:p>
          <a:p>
            <a:pPr lvl="1"/>
            <a:endParaRPr lang="en-AU" sz="2000" dirty="0"/>
          </a:p>
        </p:txBody>
      </p:sp>
      <p:pic>
        <p:nvPicPr>
          <p:cNvPr id="5" name="Picture 4"/>
          <p:cNvPicPr>
            <a:picLocks noChangeAspect="1"/>
          </p:cNvPicPr>
          <p:nvPr/>
        </p:nvPicPr>
        <p:blipFill>
          <a:blip r:embed="rId1"/>
          <a:stretch>
            <a:fillRect/>
          </a:stretch>
        </p:blipFill>
        <p:spPr>
          <a:xfrm>
            <a:off x="3094990" y="3244215"/>
            <a:ext cx="3112770" cy="1687195"/>
          </a:xfrm>
          <a:prstGeom prst="rect">
            <a:avLst/>
          </a:prstGeom>
        </p:spPr>
      </p:pic>
      <p:pic>
        <p:nvPicPr>
          <p:cNvPr id="4" name="Picture 3"/>
          <p:cNvPicPr>
            <a:picLocks noChangeAspect="1"/>
          </p:cNvPicPr>
          <p:nvPr/>
        </p:nvPicPr>
        <p:blipFill>
          <a:blip r:embed="rId2"/>
          <a:stretch>
            <a:fillRect/>
          </a:stretch>
        </p:blipFill>
        <p:spPr>
          <a:xfrm>
            <a:off x="1998980" y="2332355"/>
            <a:ext cx="3827780" cy="3003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Why Use Linear Regression?</a:t>
            </a:r>
            <a:endParaRPr lang="en-US"/>
          </a:p>
        </p:txBody>
      </p:sp>
      <p:sp>
        <p:nvSpPr>
          <p:cNvPr id="3" name="Text Placeholder 2"/>
          <p:cNvSpPr>
            <a:spLocks noGrp="1"/>
          </p:cNvSpPr>
          <p:nvPr>
            <p:ph type="body" idx="1"/>
          </p:nvPr>
        </p:nvSpPr>
        <p:spPr/>
        <p:txBody>
          <a:bodyPr>
            <a:normAutofit fontScale="90000"/>
          </a:bodyPr>
          <a:p>
            <a:pPr>
              <a:buFont typeface="Wingdings" panose="05000000000000000000" charset="0"/>
              <a:buChar char=""/>
            </a:pPr>
            <a:r>
              <a:rPr lang="en-US" b="1">
                <a:latin typeface="Arial Bold" panose="020B0604020202090204" charset="0"/>
                <a:cs typeface="Arial Bold" panose="020B0604020202090204" charset="0"/>
              </a:rPr>
              <a:t>Simple</a:t>
            </a:r>
            <a:r>
              <a:rPr lang="en-US"/>
              <a:t> to implement and computationally</a:t>
            </a:r>
            <a:r>
              <a:rPr lang="en-US" b="1">
                <a:latin typeface="Arial Bold" panose="020B0604020202090204" charset="0"/>
                <a:cs typeface="Arial Bold" panose="020B0604020202090204" charset="0"/>
              </a:rPr>
              <a:t> efficient</a:t>
            </a:r>
            <a:r>
              <a:rPr lang="en-US"/>
              <a:t>.</a:t>
            </a:r>
            <a:endParaRPr lang="en-US"/>
          </a:p>
          <a:p>
            <a:pPr>
              <a:buFont typeface="Wingdings" panose="05000000000000000000" charset="0"/>
              <a:buChar char=""/>
            </a:pPr>
            <a:r>
              <a:rPr lang="en-US"/>
              <a:t>Easy to </a:t>
            </a:r>
            <a:r>
              <a:rPr lang="en-US" b="1">
                <a:latin typeface="Arial Bold" panose="020B0604020202090204" charset="0"/>
                <a:cs typeface="Arial Bold" panose="020B0604020202090204" charset="0"/>
              </a:rPr>
              <a:t>interpret</a:t>
            </a:r>
            <a:r>
              <a:rPr lang="en-US"/>
              <a:t> — helps us understand which variables</a:t>
            </a:r>
            <a:r>
              <a:rPr lang="en-US" b="1">
                <a:latin typeface="Arial Bold" panose="020B0604020202090204" charset="0"/>
                <a:cs typeface="Arial Bold" panose="020B0604020202090204" charset="0"/>
              </a:rPr>
              <a:t> affect the outcome and how</a:t>
            </a:r>
            <a:r>
              <a:rPr lang="en-US"/>
              <a:t>.</a:t>
            </a:r>
            <a:endParaRPr lang="en-US"/>
          </a:p>
          <a:p>
            <a:pPr>
              <a:buFont typeface="Wingdings" panose="05000000000000000000" charset="0"/>
              <a:buChar char=""/>
            </a:pPr>
            <a:r>
              <a:rPr lang="en-US"/>
              <a:t>A great baseline model before moving to more complex methods.</a:t>
            </a:r>
            <a:endParaRPr lang="en-US"/>
          </a:p>
          <a:p>
            <a:pPr>
              <a:buFont typeface="Wingdings" panose="05000000000000000000" charset="0"/>
              <a:buChar char=""/>
            </a:pPr>
            <a:r>
              <a:rPr lang="en-US"/>
              <a:t>Forms </a:t>
            </a:r>
            <a:r>
              <a:rPr lang="en-US" b="1">
                <a:latin typeface="Arial Bold" panose="020B0604020202090204" charset="0"/>
                <a:cs typeface="Arial Bold" panose="020B0604020202090204" charset="0"/>
              </a:rPr>
              <a:t>the foundation </a:t>
            </a:r>
            <a:r>
              <a:rPr lang="en-US"/>
              <a:t>for many advanced models (e.g., logistic regression, generalized linear models).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 Example</a:t>
            </a:r>
            <a:endParaRPr lang="en-AU" dirty="0"/>
          </a:p>
        </p:txBody>
      </p:sp>
      <p:sp>
        <p:nvSpPr>
          <p:cNvPr id="3" name="Text Placeholder 2"/>
          <p:cNvSpPr>
            <a:spLocks noGrp="1"/>
          </p:cNvSpPr>
          <p:nvPr>
            <p:ph type="body" idx="1"/>
          </p:nvPr>
        </p:nvSpPr>
        <p:spPr>
          <a:xfrm>
            <a:off x="98425" y="982345"/>
            <a:ext cx="8469630" cy="5452110"/>
          </a:xfrm>
        </p:spPr>
        <p:txBody>
          <a:bodyPr>
            <a:normAutofit fontScale="80000"/>
          </a:bodyPr>
          <a:lstStyle/>
          <a:p>
            <a:r>
              <a:rPr sz="2400" dirty="0"/>
              <a:t>We’ll examine a dataset that tracks </a:t>
            </a:r>
            <a:r>
              <a:rPr sz="2400" b="1" dirty="0">
                <a:solidFill>
                  <a:srgbClr val="C00000"/>
                </a:solidFill>
                <a:latin typeface="Arial Bold" panose="020B0604020202090204" charset="0"/>
                <a:cs typeface="Arial Bold" panose="020B0604020202090204" charset="0"/>
              </a:rPr>
              <a:t>sales</a:t>
            </a:r>
            <a:r>
              <a:rPr sz="2400" dirty="0"/>
              <a:t> (in thousands of units) across 200 markets, </a:t>
            </a:r>
            <a:r>
              <a:rPr lang="en-US" sz="2400" dirty="0"/>
              <a:t>vary with</a:t>
            </a:r>
            <a:r>
              <a:rPr sz="2400" dirty="0"/>
              <a:t> advertising budgets (in thousands of dollars) for:</a:t>
            </a:r>
            <a:r>
              <a:rPr lang="en-US" sz="2400" dirty="0"/>
              <a:t> </a:t>
            </a:r>
            <a:r>
              <a:rPr sz="2400" b="1" dirty="0">
                <a:solidFill>
                  <a:srgbClr val="C00000"/>
                </a:solidFill>
                <a:latin typeface="Arial Bold" panose="020B0604020202090204" charset="0"/>
                <a:cs typeface="Arial Bold" panose="020B0604020202090204" charset="0"/>
              </a:rPr>
              <a:t>TV</a:t>
            </a:r>
            <a:r>
              <a:rPr lang="en-US" sz="2400" b="1" dirty="0">
                <a:solidFill>
                  <a:srgbClr val="C00000"/>
                </a:solidFill>
                <a:latin typeface="Arial Bold" panose="020B0604020202090204" charset="0"/>
                <a:cs typeface="Arial Bold" panose="020B0604020202090204" charset="0"/>
              </a:rPr>
              <a:t>, </a:t>
            </a:r>
            <a:r>
              <a:rPr sz="2400" b="1" dirty="0">
                <a:solidFill>
                  <a:srgbClr val="C00000"/>
                </a:solidFill>
                <a:latin typeface="Arial Bold" panose="020B0604020202090204" charset="0"/>
                <a:cs typeface="Arial Bold" panose="020B0604020202090204" charset="0"/>
              </a:rPr>
              <a:t>Radio</a:t>
            </a:r>
            <a:r>
              <a:rPr lang="en-US" sz="2400" b="1" dirty="0">
                <a:solidFill>
                  <a:srgbClr val="C00000"/>
                </a:solidFill>
                <a:latin typeface="Arial Bold" panose="020B0604020202090204" charset="0"/>
                <a:cs typeface="Arial Bold" panose="020B0604020202090204" charset="0"/>
              </a:rPr>
              <a:t>, </a:t>
            </a:r>
            <a:r>
              <a:rPr sz="2400" b="1" dirty="0">
                <a:solidFill>
                  <a:srgbClr val="C00000"/>
                </a:solidFill>
                <a:latin typeface="Arial Bold" panose="020B0604020202090204" charset="0"/>
                <a:cs typeface="Arial Bold" panose="020B0604020202090204" charset="0"/>
              </a:rPr>
              <a:t>Newspapers</a:t>
            </a:r>
            <a:r>
              <a:rPr lang="en-US" sz="2400" dirty="0"/>
              <a:t>. </a:t>
            </a:r>
            <a:endParaRPr lang="en-US" sz="2400" dirty="0"/>
          </a:p>
          <a:p>
            <a:r>
              <a:rPr lang="en-AU" sz="2400" dirty="0"/>
              <a:t>Questions we might ask:</a:t>
            </a:r>
            <a:endParaRPr lang="en-AU" sz="2400" dirty="0"/>
          </a:p>
          <a:p>
            <a:pPr lvl="1"/>
            <a:r>
              <a:rPr lang="en-AU" sz="2000" dirty="0"/>
              <a:t>Is there a relationship between </a:t>
            </a:r>
            <a:r>
              <a:rPr lang="en-AU" sz="2000" dirty="0">
                <a:solidFill>
                  <a:srgbClr val="0070C0"/>
                </a:solidFill>
              </a:rPr>
              <a:t>advertising budget</a:t>
            </a:r>
            <a:r>
              <a:rPr lang="en-AU" sz="2000" dirty="0"/>
              <a:t> and </a:t>
            </a:r>
            <a:r>
              <a:rPr lang="en-AU" sz="2000" dirty="0">
                <a:solidFill>
                  <a:schemeClr val="accent1"/>
                </a:solidFill>
              </a:rPr>
              <a:t>sales</a:t>
            </a:r>
            <a:r>
              <a:rPr lang="en-AU" sz="2000" dirty="0"/>
              <a:t>?</a:t>
            </a:r>
            <a:endParaRPr lang="en-AU" sz="2000" dirty="0"/>
          </a:p>
          <a:p>
            <a:pPr lvl="3"/>
            <a:r>
              <a:rPr lang="en-AU" sz="1665" dirty="0"/>
              <a:t>Do increased ad budgets lead to higher sales?</a:t>
            </a:r>
            <a:endParaRPr lang="en-AU" sz="1665" dirty="0"/>
          </a:p>
          <a:p>
            <a:pPr lvl="1"/>
            <a:r>
              <a:rPr lang="en-AU" sz="2000" dirty="0"/>
              <a:t>How strong is the relationship between advertising budget and sales?</a:t>
            </a:r>
            <a:endParaRPr lang="en-AU" sz="2000" dirty="0"/>
          </a:p>
          <a:p>
            <a:pPr lvl="3"/>
            <a:r>
              <a:rPr lang="en-AU" sz="1665" dirty="0"/>
              <a:t>Can we measure how much of the change in sales is explained by changes in the ad budget?Which media contribute to sales?</a:t>
            </a:r>
            <a:endParaRPr lang="en-AU" sz="1665" dirty="0"/>
          </a:p>
          <a:p>
            <a:pPr lvl="1"/>
            <a:r>
              <a:rPr lang="en-AU" sz="2000" dirty="0"/>
              <a:t>Can we use this data to predict future sales?</a:t>
            </a:r>
            <a:endParaRPr lang="en-AU" sz="2000" dirty="0"/>
          </a:p>
          <a:p>
            <a:pPr lvl="3"/>
            <a:r>
              <a:rPr lang="en-US" altLang="en-AU" sz="1665" dirty="0"/>
              <a:t>If so, </a:t>
            </a:r>
            <a:r>
              <a:rPr lang="en-AU" sz="1665" dirty="0"/>
              <a:t>How accurately can we predict future sales?</a:t>
            </a:r>
            <a:endParaRPr lang="en-AU" sz="2000" dirty="0"/>
          </a:p>
          <a:p>
            <a:pPr lvl="1"/>
            <a:r>
              <a:rPr lang="en-AU" sz="2000" dirty="0"/>
              <a:t>Is the relationship linear?</a:t>
            </a:r>
            <a:endParaRPr lang="en-AU" sz="2000" dirty="0"/>
          </a:p>
          <a:p>
            <a:pPr marL="1731645" lvl="4" indent="0">
              <a:buNone/>
            </a:pPr>
            <a:r>
              <a:rPr lang="en-AU" sz="1665" dirty="0"/>
              <a:t>Does a straight-line model make sense, or do we need something more flexible?</a:t>
            </a:r>
            <a:endParaRPr lang="en-AU" sz="1665" dirty="0"/>
          </a:p>
        </p:txBody>
      </p:sp>
      <p:pic>
        <p:nvPicPr>
          <p:cNvPr id="4" name="Picture 3"/>
          <p:cNvPicPr>
            <a:picLocks noChangeAspect="1"/>
          </p:cNvPicPr>
          <p:nvPr/>
        </p:nvPicPr>
        <p:blipFill>
          <a:blip r:embed="rId1"/>
          <a:stretch>
            <a:fillRect/>
          </a:stretch>
        </p:blipFill>
        <p:spPr>
          <a:xfrm>
            <a:off x="5346065" y="2112645"/>
            <a:ext cx="3479165" cy="3879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 Example on Advertising Data</a:t>
            </a:r>
            <a:endParaRPr lang="en-AU" dirty="0"/>
          </a:p>
        </p:txBody>
      </p:sp>
      <p:sp>
        <p:nvSpPr>
          <p:cNvPr id="3" name="Text Placeholder 2"/>
          <p:cNvSpPr>
            <a:spLocks noGrp="1"/>
          </p:cNvSpPr>
          <p:nvPr>
            <p:ph type="body" idx="1"/>
          </p:nvPr>
        </p:nvSpPr>
        <p:spPr>
          <a:xfrm>
            <a:off x="140335" y="982345"/>
            <a:ext cx="8469630" cy="5452110"/>
          </a:xfrm>
        </p:spPr>
        <p:txBody>
          <a:bodyPr>
            <a:normAutofit/>
          </a:bodyPr>
          <a:lstStyle/>
          <a:p>
            <a:r>
              <a:rPr lang="en-AU" sz="1800"/>
              <a:t>In each plot we show the </a:t>
            </a:r>
            <a:r>
              <a:rPr lang="en-AU" sz="1800">
                <a:solidFill>
                  <a:srgbClr val="0070C0"/>
                </a:solidFill>
              </a:rPr>
              <a:t>simple least squares fit</a:t>
            </a:r>
            <a:r>
              <a:rPr lang="en-AU" sz="1800"/>
              <a:t> of sales to that </a:t>
            </a:r>
            <a:r>
              <a:rPr lang="en-AU" sz="1800">
                <a:solidFill>
                  <a:srgbClr val="0070C0"/>
                </a:solidFill>
              </a:rPr>
              <a:t>variable</a:t>
            </a:r>
            <a:r>
              <a:rPr lang="en-AU" sz="1800"/>
              <a:t>. In other words, each blue line represents </a:t>
            </a:r>
            <a:r>
              <a:rPr lang="en-AU" sz="1800">
                <a:solidFill>
                  <a:srgbClr val="0070C0"/>
                </a:solidFill>
              </a:rPr>
              <a:t>a simple model </a:t>
            </a:r>
            <a:r>
              <a:rPr lang="en-AU" sz="1800"/>
              <a:t>that can be used to </a:t>
            </a:r>
            <a:r>
              <a:rPr lang="en-AU" sz="1800">
                <a:solidFill>
                  <a:srgbClr val="0070C0"/>
                </a:solidFill>
              </a:rPr>
              <a:t>predict sales using TV, radio, and newspaper, respectively</a:t>
            </a:r>
            <a:r>
              <a:rPr lang="en-AU" sz="1800"/>
              <a:t>.</a:t>
            </a:r>
            <a:endParaRPr lang="en-AU" sz="1800"/>
          </a:p>
        </p:txBody>
      </p:sp>
      <p:pic>
        <p:nvPicPr>
          <p:cNvPr id="5" name="Picture 4"/>
          <p:cNvPicPr>
            <a:picLocks noChangeAspect="1"/>
          </p:cNvPicPr>
          <p:nvPr/>
        </p:nvPicPr>
        <p:blipFill>
          <a:blip r:embed="rId1"/>
          <a:stretch>
            <a:fillRect/>
          </a:stretch>
        </p:blipFill>
        <p:spPr>
          <a:xfrm>
            <a:off x="742315" y="2581275"/>
            <a:ext cx="7653020" cy="35058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Simple Linear Regression</a:t>
            </a:r>
            <a:endParaRPr lang="en-AU"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67500" lnSpcReduction="20000"/>
              </a:bodyPr>
              <a:lstStyle/>
              <a:p>
                <a:r>
                  <a:rPr lang="en-AU" dirty="0"/>
                  <a:t>We assume a model</a:t>
                </a:r>
                <a:endParaRPr lang="en-AU" dirty="0"/>
              </a:p>
              <a:p>
                <a:pPr marL="0" indent="0" algn="ctr">
                  <a:buNone/>
                </a:pPr>
                <a14:m>
                  <m:oMathPara xmlns:m="http://schemas.openxmlformats.org/officeDocument/2006/math">
                    <m:oMathParaPr>
                      <m:jc m:val="centerGroup"/>
                    </m:oMathParaPr>
                    <m:oMath xmlns:m="http://schemas.openxmlformats.org/officeDocument/2006/math">
                      <m:r>
                        <a:rPr lang="en-AU" b="1" i="1" smtClean="0">
                          <a:latin typeface="Cambria Math" panose="02040503050406030204" pitchFamily="18" charset="0"/>
                        </a:rPr>
                        <m:t>𝒀</m:t>
                      </m:r>
                      <m:r>
                        <a:rPr lang="en-AU" b="0" i="1" smtClean="0">
                          <a:latin typeface="Cambria Math" panose="02040503050406030204" pitchFamily="18" charset="0"/>
                        </a:rPr>
                        <m:t>= </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𝛽</m:t>
                          </m:r>
                        </m:e>
                        <m:sub>
                          <m:r>
                            <a:rPr lang="en-AU" b="0" i="1" smtClean="0">
                              <a:latin typeface="Cambria Math" panose="02040503050406030204" pitchFamily="18" charset="0"/>
                              <a:ea typeface="Cambria Math" panose="02040503050406030204" pitchFamily="18" charset="0"/>
                            </a:rPr>
                            <m:t>0</m:t>
                          </m:r>
                        </m:sub>
                      </m:sSub>
                      <m:r>
                        <a:rPr lang="en-AU" b="0" i="1" smtClean="0">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𝛽</m:t>
                          </m:r>
                        </m:e>
                        <m:sub>
                          <m:r>
                            <a:rPr lang="en-AU" b="0" i="1" smtClean="0">
                              <a:latin typeface="Cambria Math" panose="02040503050406030204" pitchFamily="18" charset="0"/>
                              <a:ea typeface="Cambria Math" panose="02040503050406030204" pitchFamily="18" charset="0"/>
                            </a:rPr>
                            <m:t>1</m:t>
                          </m:r>
                        </m:sub>
                      </m:sSub>
                      <m:r>
                        <a:rPr lang="en-AU" b="1" i="1" smtClean="0">
                          <a:latin typeface="Cambria Math" panose="02040503050406030204" pitchFamily="18" charset="0"/>
                          <a:ea typeface="Cambria Math" panose="02040503050406030204" pitchFamily="18" charset="0"/>
                        </a:rPr>
                        <m:t>𝑿</m:t>
                      </m:r>
                      <m:r>
                        <a:rPr lang="en-AU" i="1">
                          <a:latin typeface="Cambria Math" panose="02040503050406030204" pitchFamily="18" charset="0"/>
                          <a:ea typeface="Cambria Math" panose="02040503050406030204" pitchFamily="18" charset="0"/>
                        </a:rPr>
                        <m:t>+</m:t>
                      </m:r>
                      <m:r>
                        <a:rPr lang="en-AU" i="1" smtClean="0">
                          <a:latin typeface="Cambria Math" panose="02040503050406030204" pitchFamily="18" charset="0"/>
                          <a:ea typeface="Cambria Math" panose="02040503050406030204" pitchFamily="18" charset="0"/>
                        </a:rPr>
                        <m:t>𝜖</m:t>
                      </m:r>
                    </m:oMath>
                  </m:oMathPara>
                </a14:m>
                <a:endParaRPr lang="en-AU" dirty="0"/>
              </a:p>
              <a:p>
                <a:pPr marL="0" indent="0">
                  <a:buNone/>
                </a:pPr>
                <a:r>
                  <a:rPr lang="en-AU" dirty="0"/>
                  <a:t>Where </a:t>
                </a:r>
                <a14:m>
                  <m:oMath xmlns:m="http://schemas.openxmlformats.org/officeDocument/2006/math">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𝛽</m:t>
                        </m:r>
                      </m:e>
                      <m:sub>
                        <m:r>
                          <a:rPr lang="en-AU" b="0" i="1" smtClean="0">
                            <a:latin typeface="Cambria Math" panose="02040503050406030204" pitchFamily="18" charset="0"/>
                            <a:ea typeface="Cambria Math" panose="02040503050406030204" pitchFamily="18" charset="0"/>
                          </a:rPr>
                          <m:t>0</m:t>
                        </m:r>
                      </m:sub>
                    </m:sSub>
                  </m:oMath>
                </a14:m>
                <a:r>
                  <a:rPr lang="en-AU" dirty="0"/>
                  <a:t> and </a:t>
                </a:r>
                <a14:m>
                  <m:oMath xmlns:m="http://schemas.openxmlformats.org/officeDocument/2006/math">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𝛽</m:t>
                        </m:r>
                      </m:e>
                      <m:sub>
                        <m:r>
                          <a:rPr lang="en-AU" i="1">
                            <a:latin typeface="Cambria Math" panose="02040503050406030204" pitchFamily="18" charset="0"/>
                            <a:ea typeface="Cambria Math" panose="02040503050406030204" pitchFamily="18" charset="0"/>
                          </a:rPr>
                          <m:t>1</m:t>
                        </m:r>
                      </m:sub>
                    </m:sSub>
                  </m:oMath>
                </a14:m>
                <a:r>
                  <a:rPr lang="en-AU" dirty="0"/>
                  <a:t> are two unknown constants that represent the </a:t>
                </a:r>
                <a:r>
                  <a:rPr lang="en-AU" dirty="0">
                    <a:solidFill>
                      <a:srgbClr val="0070C0"/>
                    </a:solidFill>
                  </a:rPr>
                  <a:t>intercept</a:t>
                </a:r>
                <a:r>
                  <a:rPr lang="en-AU" dirty="0">
                    <a:solidFill>
                      <a:schemeClr val="accent1"/>
                    </a:solidFill>
                  </a:rPr>
                  <a:t> </a:t>
                </a:r>
                <a:r>
                  <a:rPr lang="en-AU" dirty="0"/>
                  <a:t>and </a:t>
                </a:r>
                <a:r>
                  <a:rPr lang="en-AU" dirty="0">
                    <a:solidFill>
                      <a:srgbClr val="0070C0"/>
                    </a:solidFill>
                  </a:rPr>
                  <a:t>slope</a:t>
                </a:r>
                <a:r>
                  <a:rPr lang="en-AU" dirty="0"/>
                  <a:t>, also known as </a:t>
                </a:r>
                <a:r>
                  <a:rPr lang="en-AU" dirty="0">
                    <a:solidFill>
                      <a:srgbClr val="0070C0"/>
                    </a:solidFill>
                  </a:rPr>
                  <a:t>coefficients</a:t>
                </a:r>
                <a:r>
                  <a:rPr lang="en-AU" dirty="0"/>
                  <a:t> or </a:t>
                </a:r>
                <a:r>
                  <a:rPr lang="en-AU" b="1" dirty="0">
                    <a:solidFill>
                      <a:srgbClr val="C00000"/>
                    </a:solidFill>
                    <a:latin typeface="Arial Bold" panose="020B0604020202090204" charset="0"/>
                    <a:cs typeface="Arial Bold" panose="020B0604020202090204" charset="0"/>
                  </a:rPr>
                  <a:t>parameters</a:t>
                </a:r>
                <a:r>
                  <a:rPr lang="en-AU" dirty="0"/>
                  <a:t>, and </a:t>
                </a:r>
                <a14:m>
                  <m:oMath xmlns:m="http://schemas.openxmlformats.org/officeDocument/2006/math">
                    <m:r>
                      <a:rPr lang="en-AU" i="1">
                        <a:latin typeface="Cambria Math" panose="02040503050406030204" pitchFamily="18" charset="0"/>
                        <a:ea typeface="Cambria Math" panose="02040503050406030204" pitchFamily="18" charset="0"/>
                      </a:rPr>
                      <m:t>𝜖</m:t>
                    </m:r>
                    <m:r>
                      <a:rPr lang="en-AU" i="1">
                        <a:latin typeface="Cambria Math" panose="02040503050406030204" pitchFamily="18" charset="0"/>
                        <a:ea typeface="Cambria Math" panose="02040503050406030204" pitchFamily="18" charset="0"/>
                      </a:rPr>
                      <m:t> </m:t>
                    </m:r>
                  </m:oMath>
                </a14:m>
                <a:r>
                  <a:rPr lang="en-AU" dirty="0"/>
                  <a:t>is the </a:t>
                </a:r>
                <a:r>
                  <a:rPr lang="en-AU" dirty="0">
                    <a:solidFill>
                      <a:srgbClr val="C00000"/>
                    </a:solidFill>
                  </a:rPr>
                  <a:t>error term</a:t>
                </a:r>
                <a:r>
                  <a:rPr lang="en-AU" dirty="0"/>
                  <a:t>.</a:t>
                </a:r>
                <a:endParaRPr lang="en-AU" dirty="0"/>
              </a:p>
              <a:p>
                <a:pPr>
                  <a:buFont typeface="Wingdings" panose="05000000000000000000" pitchFamily="2" charset="2"/>
                  <a:buChar char="§"/>
                </a:pPr>
                <a:r>
                  <a:rPr lang="en-AU" dirty="0"/>
                  <a:t>Given some estimates </a:t>
                </a:r>
                <a14:m>
                  <m:oMath xmlns:m="http://schemas.openxmlformats.org/officeDocument/2006/math">
                    <m:sSub>
                      <m:sSubPr>
                        <m:ctrlPr>
                          <a:rPr lang="en-AU" b="0" i="1" smtClean="0">
                            <a:latin typeface="Cambria Math" panose="02040503050406030204" pitchFamily="18" charset="0"/>
                            <a:ea typeface="Cambria Math" panose="02040503050406030204" pitchFamily="18" charset="0"/>
                          </a:rPr>
                        </m:ctrlPr>
                      </m:sSubPr>
                      <m:e>
                        <m:acc>
                          <m:accPr>
                            <m:ctrlPr>
                              <a:rPr lang="en-AU" i="1">
                                <a:latin typeface="Cambria Math" panose="02040503050406030204" pitchFamily="18" charset="0"/>
                                <a:ea typeface="Cambria Math" panose="02040503050406030204" pitchFamily="18" charset="0"/>
                              </a:rPr>
                            </m:ctrlPr>
                          </m:accPr>
                          <m:e>
                            <m:r>
                              <a:rPr lang="en-AU" i="1">
                                <a:latin typeface="Cambria Math" panose="02040503050406030204" pitchFamily="18" charset="0"/>
                                <a:ea typeface="Cambria Math" panose="02040503050406030204" pitchFamily="18" charset="0"/>
                              </a:rPr>
                              <m:t>𝛽</m:t>
                            </m:r>
                          </m:e>
                        </m:acc>
                      </m:e>
                      <m:sub>
                        <m:r>
                          <a:rPr lang="en-AU" b="0" i="1" smtClean="0">
                            <a:latin typeface="Cambria Math" panose="02040503050406030204" pitchFamily="18" charset="0"/>
                            <a:ea typeface="Cambria Math" panose="02040503050406030204" pitchFamily="18" charset="0"/>
                          </a:rPr>
                          <m:t>0</m:t>
                        </m:r>
                      </m:sub>
                    </m:sSub>
                  </m:oMath>
                </a14:m>
                <a:r>
                  <a:rPr lang="en-AU" dirty="0"/>
                  <a:t>and </a:t>
                </a:r>
                <a14:m>
                  <m:oMath xmlns:m="http://schemas.openxmlformats.org/officeDocument/2006/math">
                    <m:sSub>
                      <m:sSubPr>
                        <m:ctrlPr>
                          <a:rPr lang="en-AU" i="1">
                            <a:latin typeface="Cambria Math" panose="02040503050406030204" pitchFamily="18" charset="0"/>
                            <a:ea typeface="Cambria Math" panose="02040503050406030204" pitchFamily="18" charset="0"/>
                          </a:rPr>
                        </m:ctrlPr>
                      </m:sSubPr>
                      <m:e>
                        <m:acc>
                          <m:accPr>
                            <m:ctrlPr>
                              <a:rPr lang="en-AU" i="1">
                                <a:latin typeface="Cambria Math" panose="02040503050406030204" pitchFamily="18" charset="0"/>
                                <a:ea typeface="Cambria Math" panose="02040503050406030204" pitchFamily="18" charset="0"/>
                              </a:rPr>
                            </m:ctrlPr>
                          </m:accPr>
                          <m:e>
                            <m:r>
                              <a:rPr lang="en-AU" i="1">
                                <a:latin typeface="Cambria Math" panose="02040503050406030204" pitchFamily="18" charset="0"/>
                                <a:ea typeface="Cambria Math" panose="02040503050406030204" pitchFamily="18" charset="0"/>
                              </a:rPr>
                              <m:t>𝛽</m:t>
                            </m:r>
                          </m:e>
                        </m:acc>
                      </m:e>
                      <m:sub>
                        <m:r>
                          <a:rPr lang="en-AU" b="0" i="1" smtClean="0">
                            <a:latin typeface="Cambria Math" panose="02040503050406030204" pitchFamily="18" charset="0"/>
                            <a:ea typeface="Cambria Math" panose="02040503050406030204" pitchFamily="18" charset="0"/>
                          </a:rPr>
                          <m:t>1</m:t>
                        </m:r>
                      </m:sub>
                    </m:sSub>
                  </m:oMath>
                </a14:m>
                <a:r>
                  <a:rPr lang="en-AU" dirty="0"/>
                  <a:t> for the model coefficients, we can predict future scales using</a:t>
                </a:r>
                <a:endParaRPr lang="en-AU" dirty="0"/>
              </a:p>
              <a:p>
                <a:pPr marL="0" indent="0" algn="ctr">
                  <a:buNone/>
                </a:pPr>
                <a:r>
                  <a:rPr lang="en-AU" dirty="0"/>
                  <a:t> </a:t>
                </a:r>
                <a14:m>
                  <m:oMath xmlns:m="http://schemas.openxmlformats.org/officeDocument/2006/math">
                    <m:acc>
                      <m:accPr>
                        <m:ctrlPr>
                          <a:rPr lang="en-AU" b="1" i="1">
                            <a:latin typeface="Cambria Math" panose="02040503050406030204" pitchFamily="18" charset="0"/>
                            <a:ea typeface="Cambria Math" panose="02040503050406030204" pitchFamily="18" charset="0"/>
                          </a:rPr>
                        </m:ctrlPr>
                      </m:accPr>
                      <m:e>
                        <m:r>
                          <a:rPr lang="en-AU" b="1" i="1" smtClean="0">
                            <a:latin typeface="Cambria Math" panose="02040503050406030204" pitchFamily="18" charset="0"/>
                            <a:ea typeface="Cambria Math" panose="02040503050406030204" pitchFamily="18" charset="0"/>
                          </a:rPr>
                          <m:t>𝒚</m:t>
                        </m:r>
                      </m:e>
                    </m:acc>
                    <m:r>
                      <a:rPr lang="en-AU" b="0" i="1" smtClean="0">
                        <a:latin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acc>
                          <m:accPr>
                            <m:ctrlPr>
                              <a:rPr lang="en-AU" i="1">
                                <a:latin typeface="Cambria Math" panose="02040503050406030204" pitchFamily="18" charset="0"/>
                                <a:ea typeface="Cambria Math" panose="02040503050406030204" pitchFamily="18" charset="0"/>
                              </a:rPr>
                            </m:ctrlPr>
                          </m:accPr>
                          <m:e>
                            <m:r>
                              <a:rPr lang="en-AU" i="1">
                                <a:latin typeface="Cambria Math" panose="02040503050406030204" pitchFamily="18" charset="0"/>
                                <a:ea typeface="Cambria Math" panose="02040503050406030204" pitchFamily="18" charset="0"/>
                              </a:rPr>
                              <m:t>𝛽</m:t>
                            </m:r>
                          </m:e>
                        </m:acc>
                      </m:e>
                      <m:sub>
                        <m:r>
                          <a:rPr lang="en-AU" i="1">
                            <a:latin typeface="Cambria Math" panose="02040503050406030204" pitchFamily="18" charset="0"/>
                            <a:ea typeface="Cambria Math" panose="02040503050406030204" pitchFamily="18" charset="0"/>
                          </a:rPr>
                          <m:t>0</m:t>
                        </m:r>
                      </m:sub>
                    </m:sSub>
                    <m:r>
                      <a:rPr lang="en-AU" b="0" i="1" smtClean="0">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acc>
                          <m:accPr>
                            <m:ctrlPr>
                              <a:rPr lang="en-AU" i="1">
                                <a:latin typeface="Cambria Math" panose="02040503050406030204" pitchFamily="18" charset="0"/>
                                <a:ea typeface="Cambria Math" panose="02040503050406030204" pitchFamily="18" charset="0"/>
                              </a:rPr>
                            </m:ctrlPr>
                          </m:accPr>
                          <m:e>
                            <m:r>
                              <a:rPr lang="en-AU" i="1">
                                <a:latin typeface="Cambria Math" panose="02040503050406030204" pitchFamily="18" charset="0"/>
                                <a:ea typeface="Cambria Math" panose="02040503050406030204" pitchFamily="18" charset="0"/>
                              </a:rPr>
                              <m:t>𝛽</m:t>
                            </m:r>
                          </m:e>
                        </m:acc>
                      </m:e>
                      <m:sub>
                        <m:r>
                          <a:rPr lang="en-AU" i="1">
                            <a:latin typeface="Cambria Math" panose="02040503050406030204" pitchFamily="18" charset="0"/>
                            <a:ea typeface="Cambria Math" panose="02040503050406030204" pitchFamily="18" charset="0"/>
                          </a:rPr>
                          <m:t>1</m:t>
                        </m:r>
                      </m:sub>
                    </m:sSub>
                    <m:r>
                      <a:rPr lang="en-AU" b="1" i="1" smtClean="0">
                        <a:latin typeface="Cambria Math" panose="02040503050406030204" pitchFamily="18" charset="0"/>
                        <a:ea typeface="Cambria Math" panose="02040503050406030204" pitchFamily="18" charset="0"/>
                      </a:rPr>
                      <m:t>𝒙</m:t>
                    </m:r>
                  </m:oMath>
                </a14:m>
                <a:endParaRPr lang="en-AU" b="1" dirty="0"/>
              </a:p>
              <a:p>
                <a:pPr marL="0" indent="0" algn="ctr">
                  <a:buNone/>
                </a:pPr>
                <a:r>
                  <a:rPr lang="en-AU" dirty="0"/>
                  <a:t>where </a:t>
                </a:r>
                <a14:m>
                  <m:oMath xmlns:m="http://schemas.openxmlformats.org/officeDocument/2006/math">
                    <m:acc>
                      <m:accPr>
                        <m:ctrlPr>
                          <a:rPr lang="en-AU" b="1" i="1" smtClean="0">
                            <a:latin typeface="Cambria Math" panose="02040503050406030204" pitchFamily="18" charset="0"/>
                            <a:ea typeface="Cambria Math" panose="02040503050406030204" pitchFamily="18" charset="0"/>
                          </a:rPr>
                        </m:ctrlPr>
                      </m:accPr>
                      <m:e>
                        <m:r>
                          <a:rPr lang="en-AU" b="1" i="1" smtClean="0">
                            <a:latin typeface="Cambria Math" panose="02040503050406030204" pitchFamily="18" charset="0"/>
                            <a:ea typeface="Cambria Math" panose="02040503050406030204" pitchFamily="18" charset="0"/>
                          </a:rPr>
                          <m:t>𝒚</m:t>
                        </m:r>
                      </m:e>
                    </m:acc>
                    <m:r>
                      <a:rPr lang="en-AU" b="1" i="1" smtClean="0">
                        <a:latin typeface="Cambria Math" panose="02040503050406030204" pitchFamily="18" charset="0"/>
                        <a:ea typeface="Cambria Math" panose="02040503050406030204" pitchFamily="18" charset="0"/>
                      </a:rPr>
                      <m:t> </m:t>
                    </m:r>
                  </m:oMath>
                </a14:m>
                <a:r>
                  <a:rPr lang="en-AU" dirty="0"/>
                  <a:t>indicates a prediction of </a:t>
                </a:r>
                <a14:m>
                  <m:oMath xmlns:m="http://schemas.openxmlformats.org/officeDocument/2006/math">
                    <m:r>
                      <a:rPr lang="en-AU" b="1" i="1">
                        <a:latin typeface="Cambria Math" panose="02040503050406030204" pitchFamily="18" charset="0"/>
                        <a:ea typeface="Cambria Math" panose="02040503050406030204" pitchFamily="18" charset="0"/>
                      </a:rPr>
                      <m:t>𝒙</m:t>
                    </m:r>
                    <m:r>
                      <a:rPr lang="en-AU" b="1" i="1" smtClean="0">
                        <a:latin typeface="Cambria Math" panose="02040503050406030204" pitchFamily="18" charset="0"/>
                        <a:ea typeface="Cambria Math" panose="02040503050406030204" pitchFamily="18" charset="0"/>
                      </a:rPr>
                      <m:t> </m:t>
                    </m:r>
                  </m:oMath>
                </a14:m>
                <a:r>
                  <a:rPr lang="en-AU" dirty="0"/>
                  <a:t>on the basis of </a:t>
                </a:r>
                <a14:m>
                  <m:oMath xmlns:m="http://schemas.openxmlformats.org/officeDocument/2006/math">
                    <m:r>
                      <a:rPr lang="en-AU" b="1" i="1">
                        <a:latin typeface="Cambria Math" panose="02040503050406030204" pitchFamily="18" charset="0"/>
                        <a:ea typeface="Cambria Math" panose="02040503050406030204" pitchFamily="18" charset="0"/>
                      </a:rPr>
                      <m:t>𝑿</m:t>
                    </m:r>
                  </m:oMath>
                </a14:m>
                <a:r>
                  <a:rPr lang="en-AU" dirty="0"/>
                  <a:t> = </a:t>
                </a:r>
                <a14:m>
                  <m:oMath xmlns:m="http://schemas.openxmlformats.org/officeDocument/2006/math">
                    <m:r>
                      <a:rPr lang="en-AU" b="1" i="1">
                        <a:latin typeface="Cambria Math" panose="02040503050406030204" pitchFamily="18" charset="0"/>
                        <a:ea typeface="Cambria Math" panose="02040503050406030204" pitchFamily="18" charset="0"/>
                      </a:rPr>
                      <m:t>𝒙</m:t>
                    </m:r>
                  </m:oMath>
                </a14:m>
                <a:r>
                  <a:rPr lang="en-AU" dirty="0"/>
                  <a:t>.</a:t>
                </a:r>
                <a:endParaRPr lang="en-AU" dirty="0"/>
              </a:p>
              <a:p>
                <a:pPr marL="0" indent="0" algn="ctr">
                  <a:buNone/>
                </a:pPr>
                <a:r>
                  <a:rPr lang="en-AU" dirty="0"/>
                  <a:t>The </a:t>
                </a:r>
                <a:r>
                  <a:rPr lang="en-AU" i="1" dirty="0">
                    <a:solidFill>
                      <a:srgbClr val="0070C0"/>
                    </a:solidFill>
                  </a:rPr>
                  <a:t>hat</a:t>
                </a:r>
                <a:r>
                  <a:rPr lang="en-AU" dirty="0"/>
                  <a:t> symbol denotes an estimated value.</a:t>
                </a:r>
                <a:endParaRPr lang="en-AU" dirty="0"/>
              </a:p>
              <a:p>
                <a:pPr marL="0" indent="0" algn="ctr">
                  <a:buNone/>
                </a:pPr>
                <a:endParaRPr lang="en-AU" dirty="0"/>
              </a:p>
              <a:p>
                <a:pPr>
                  <a:buFont typeface="Wingdings" panose="05000000000000000000" pitchFamily="2" charset="2"/>
                  <a:buChar char="§"/>
                </a:pPr>
                <a:endParaRPr lang="en-AU" dirty="0"/>
              </a:p>
              <a:p>
                <a:pPr marL="0" indent="0">
                  <a:buNone/>
                </a:pPr>
                <a:endParaRPr lang="en-AU" dirty="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b="-16236"/>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Loss Function</a:t>
            </a:r>
            <a:endParaRPr lang="en-AU" dirty="0"/>
          </a:p>
        </p:txBody>
      </p:sp>
      <p:sp>
        <p:nvSpPr>
          <p:cNvPr id="3" name="Text Placeholder 2"/>
          <p:cNvSpPr>
            <a:spLocks noGrp="1"/>
          </p:cNvSpPr>
          <p:nvPr>
            <p:ph type="body" idx="1"/>
          </p:nvPr>
        </p:nvSpPr>
        <p:spPr/>
        <p:txBody>
          <a:bodyPr>
            <a:normAutofit/>
          </a:bodyPr>
          <a:lstStyle/>
          <a:p>
            <a:r>
              <a:rPr lang="en-AU" sz="2400" dirty="0"/>
              <a:t>Least squares:</a:t>
            </a:r>
            <a:endParaRPr lang="en-AU" sz="2400" dirty="0"/>
          </a:p>
        </p:txBody>
      </p:sp>
      <p:pic>
        <p:nvPicPr>
          <p:cNvPr id="9" name="Picture 8"/>
          <p:cNvPicPr>
            <a:picLocks noChangeAspect="1"/>
          </p:cNvPicPr>
          <p:nvPr/>
        </p:nvPicPr>
        <p:blipFill>
          <a:blip r:embed="rId1">
            <a:clrChange>
              <a:clrFrom>
                <a:srgbClr val="FFFFFF"/>
              </a:clrFrom>
              <a:clrTo>
                <a:srgbClr val="FFFFFF">
                  <a:alpha val="0"/>
                </a:srgbClr>
              </a:clrTo>
            </a:clrChange>
          </a:blip>
          <a:stretch>
            <a:fillRect/>
          </a:stretch>
        </p:blipFill>
        <p:spPr>
          <a:xfrm>
            <a:off x="742315" y="1596403"/>
            <a:ext cx="6869218" cy="5102847"/>
          </a:xfrm>
          <a:prstGeom prst="rect">
            <a:avLst/>
          </a:prstGeom>
        </p:spPr>
      </p:pic>
      <p:cxnSp>
        <p:nvCxnSpPr>
          <p:cNvPr id="7" name="Straight Connector 6"/>
          <p:cNvCxnSpPr/>
          <p:nvPr/>
        </p:nvCxnSpPr>
        <p:spPr>
          <a:xfrm>
            <a:off x="2070100" y="3844290"/>
            <a:ext cx="9525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2"/>
          <a:stretch>
            <a:fillRect/>
          </a:stretch>
        </p:blipFill>
        <p:spPr>
          <a:xfrm>
            <a:off x="2768600" y="3844290"/>
            <a:ext cx="290830" cy="349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 Example</a:t>
            </a:r>
            <a:endParaRPr lang="en-AU" dirty="0"/>
          </a:p>
        </p:txBody>
      </p:sp>
      <p:sp>
        <p:nvSpPr>
          <p:cNvPr id="3" name="Text Placeholder 2"/>
          <p:cNvSpPr>
            <a:spLocks noGrp="1"/>
          </p:cNvSpPr>
          <p:nvPr>
            <p:ph type="body" idx="1"/>
          </p:nvPr>
        </p:nvSpPr>
        <p:spPr/>
        <p:txBody>
          <a:bodyPr>
            <a:normAutofit/>
          </a:bodyPr>
          <a:lstStyle/>
          <a:p>
            <a:r>
              <a:rPr lang="en-AU" sz="2400" dirty="0"/>
              <a:t>The least squares fit for the regression of </a:t>
            </a:r>
            <a:r>
              <a:rPr lang="en-AU" sz="2400" dirty="0">
                <a:solidFill>
                  <a:srgbClr val="0070C0"/>
                </a:solidFill>
              </a:rPr>
              <a:t>sales</a:t>
            </a:r>
            <a:r>
              <a:rPr lang="en-AU" sz="2400" dirty="0"/>
              <a:t> onto </a:t>
            </a:r>
            <a:r>
              <a:rPr lang="en-AU" sz="2400" dirty="0">
                <a:solidFill>
                  <a:srgbClr val="0070C0"/>
                </a:solidFill>
              </a:rPr>
              <a:t>TV</a:t>
            </a:r>
            <a:r>
              <a:rPr lang="en-AU" sz="2400" dirty="0"/>
              <a:t>. In this case a linear fit captures the essence of the relationship, although it is somewhat deficient in the </a:t>
            </a:r>
            <a:r>
              <a:rPr lang="en-US" altLang="en-AU" sz="2400" dirty="0"/>
              <a:t>following</a:t>
            </a:r>
            <a:r>
              <a:rPr lang="en-AU" sz="2400" dirty="0"/>
              <a:t> plot.</a:t>
            </a:r>
            <a:endParaRPr lang="en-AU" sz="2400" dirty="0"/>
          </a:p>
        </p:txBody>
      </p:sp>
      <p:pic>
        <p:nvPicPr>
          <p:cNvPr id="5" name="Picture 4"/>
          <p:cNvPicPr>
            <a:picLocks noChangeAspect="1"/>
          </p:cNvPicPr>
          <p:nvPr/>
        </p:nvPicPr>
        <p:blipFill>
          <a:blip r:embed="rId1"/>
          <a:stretch>
            <a:fillRect/>
          </a:stretch>
        </p:blipFill>
        <p:spPr>
          <a:xfrm>
            <a:off x="2377091" y="3290123"/>
            <a:ext cx="5319109" cy="33877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AU" dirty="0"/>
              <a:t>Evaluation Metrics</a:t>
            </a:r>
            <a:endParaRPr lang="en-AU" dirty="0"/>
          </a:p>
        </p:txBody>
      </p:sp>
      <p:sp>
        <p:nvSpPr>
          <p:cNvPr id="3" name="Text Placeholder 2"/>
          <p:cNvSpPr>
            <a:spLocks noGrp="1"/>
          </p:cNvSpPr>
          <p:nvPr>
            <p:ph type="body" idx="1"/>
          </p:nvPr>
        </p:nvSpPr>
        <p:spPr/>
        <p:txBody>
          <a:bodyPr/>
          <a:lstStyle/>
          <a:p>
            <a:r>
              <a:rPr lang="en-AU" sz="2400" dirty="0"/>
              <a:t>To assess the overall accuracy / performance of the model – </a:t>
            </a:r>
            <a:r>
              <a:rPr lang="en-US" altLang="en-AU" sz="2400" dirty="0">
                <a:solidFill>
                  <a:schemeClr val="accent1"/>
                </a:solidFill>
              </a:rPr>
              <a:t>MAE, MSE, RMSE,</a:t>
            </a:r>
            <a:r>
              <a:rPr lang="en-US" altLang="en-AU" sz="2400" dirty="0"/>
              <a:t> </a:t>
            </a:r>
            <a:r>
              <a:rPr lang="en-AU" sz="2400" dirty="0">
                <a:solidFill>
                  <a:schemeClr val="accent1"/>
                </a:solidFill>
              </a:rPr>
              <a:t>RSE, R</a:t>
            </a:r>
            <a:r>
              <a:rPr lang="en-AU" sz="2400" baseline="30000" dirty="0">
                <a:solidFill>
                  <a:schemeClr val="accent1"/>
                </a:solidFill>
              </a:rPr>
              <a:t>2</a:t>
            </a:r>
            <a:endParaRPr lang="en-AU" sz="2400" baseline="30000" dirty="0">
              <a:solidFill>
                <a:schemeClr val="accent1"/>
              </a:solidFill>
            </a:endParaRPr>
          </a:p>
          <a:p>
            <a:pPr lvl="1"/>
            <a:r>
              <a:rPr lang="en-AU" sz="1710" dirty="0">
                <a:solidFill>
                  <a:srgbClr val="0070C0"/>
                </a:solidFill>
              </a:rPr>
              <a:t>Mean Absolute Error (MAE)</a:t>
            </a:r>
            <a:r>
              <a:rPr lang="en-AU" sz="1710" dirty="0">
                <a:solidFill>
                  <a:schemeClr val="tx1"/>
                </a:solidFill>
              </a:rPr>
              <a:t> </a:t>
            </a:r>
            <a:endParaRPr lang="en-AU" sz="1710" dirty="0">
              <a:solidFill>
                <a:schemeClr val="tx1"/>
              </a:solidFill>
            </a:endParaRPr>
          </a:p>
          <a:p>
            <a:pPr lvl="2"/>
            <a:r>
              <a:rPr lang="en-AU" sz="1710" dirty="0">
                <a:solidFill>
                  <a:schemeClr val="tx1"/>
                </a:solidFill>
              </a:rPr>
              <a:t>is the mean of the absolute value of the errors:</a:t>
            </a:r>
            <a:endParaRPr lang="en-AU" sz="1710" dirty="0">
              <a:solidFill>
                <a:schemeClr val="tx1"/>
              </a:solidFill>
            </a:endParaRPr>
          </a:p>
          <a:p>
            <a:pPr lvl="1"/>
            <a:r>
              <a:rPr lang="en-AU" sz="1710" dirty="0">
                <a:solidFill>
                  <a:srgbClr val="0070C0"/>
                </a:solidFill>
              </a:rPr>
              <a:t>Mean Squared Error (MSE)</a:t>
            </a:r>
            <a:r>
              <a:rPr lang="en-AU" sz="1710" dirty="0">
                <a:solidFill>
                  <a:schemeClr val="tx1"/>
                </a:solidFill>
              </a:rPr>
              <a:t> </a:t>
            </a:r>
            <a:endParaRPr lang="en-AU" sz="1710" dirty="0">
              <a:solidFill>
                <a:schemeClr val="tx1"/>
              </a:solidFill>
            </a:endParaRPr>
          </a:p>
          <a:p>
            <a:pPr lvl="2"/>
            <a:r>
              <a:rPr lang="en-AU" sz="1710" dirty="0">
                <a:solidFill>
                  <a:schemeClr val="tx1"/>
                </a:solidFill>
              </a:rPr>
              <a:t>is the mean of the squared errors:</a:t>
            </a:r>
            <a:endParaRPr lang="en-AU" sz="1710" dirty="0">
              <a:solidFill>
                <a:schemeClr val="tx1"/>
              </a:solidFill>
            </a:endParaRPr>
          </a:p>
          <a:p>
            <a:pPr lvl="1"/>
            <a:endParaRPr lang="en-AU" sz="1710" dirty="0">
              <a:solidFill>
                <a:schemeClr val="tx1"/>
              </a:solidFill>
            </a:endParaRPr>
          </a:p>
          <a:p>
            <a:pPr lvl="1"/>
            <a:r>
              <a:rPr lang="en-AU" sz="1710" dirty="0">
                <a:solidFill>
                  <a:srgbClr val="0070C0"/>
                </a:solidFill>
              </a:rPr>
              <a:t>Root Mean Squared Error (RMSE)</a:t>
            </a:r>
            <a:r>
              <a:rPr lang="en-AU" sz="1710" dirty="0">
                <a:solidFill>
                  <a:schemeClr val="tx1"/>
                </a:solidFill>
              </a:rPr>
              <a:t> </a:t>
            </a:r>
            <a:endParaRPr lang="en-AU" sz="1710" dirty="0">
              <a:solidFill>
                <a:schemeClr val="tx1"/>
              </a:solidFill>
            </a:endParaRPr>
          </a:p>
          <a:p>
            <a:pPr lvl="2"/>
            <a:r>
              <a:rPr lang="en-AU" sz="1710" dirty="0">
                <a:solidFill>
                  <a:schemeClr val="tx1"/>
                </a:solidFill>
              </a:rPr>
              <a:t>is the square root of the mean of the squared errors:</a:t>
            </a:r>
            <a:endParaRPr lang="en-AU" sz="1710" dirty="0">
              <a:solidFill>
                <a:schemeClr val="tx1"/>
              </a:solidFill>
            </a:endParaRPr>
          </a:p>
          <a:p>
            <a:pPr lvl="1"/>
            <a:endParaRPr lang="en-AU" sz="1710" dirty="0">
              <a:solidFill>
                <a:schemeClr val="tx1"/>
              </a:solidFill>
            </a:endParaRPr>
          </a:p>
        </p:txBody>
      </p:sp>
      <p:pic>
        <p:nvPicPr>
          <p:cNvPr id="4" name="Picture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156960" y="2470785"/>
            <a:ext cx="1604010" cy="765175"/>
          </a:xfrm>
          <a:prstGeom prst="rect">
            <a:avLst/>
          </a:prstGeom>
        </p:spPr>
      </p:pic>
      <p:pic>
        <p:nvPicPr>
          <p:cNvPr id="5" name="Picture 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4881880" y="3449320"/>
            <a:ext cx="1604010" cy="762635"/>
          </a:xfrm>
          <a:prstGeom prst="rect">
            <a:avLst/>
          </a:prstGeom>
        </p:spPr>
      </p:pic>
      <p:pic>
        <p:nvPicPr>
          <p:cNvPr id="6" name="Picture 5"/>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6734175" y="4697730"/>
            <a:ext cx="1746250" cy="883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Measurements - Accuracy</a:t>
            </a:r>
            <a:endParaRPr lang="en-AU" dirty="0"/>
          </a:p>
        </p:txBody>
      </p:sp>
      <p:sp>
        <p:nvSpPr>
          <p:cNvPr id="3" name="Text Placeholder 2"/>
          <p:cNvSpPr>
            <a:spLocks noGrp="1"/>
          </p:cNvSpPr>
          <p:nvPr>
            <p:ph type="body" idx="1"/>
          </p:nvPr>
        </p:nvSpPr>
        <p:spPr>
          <a:xfrm>
            <a:off x="140335" y="982345"/>
            <a:ext cx="8469630" cy="5452110"/>
          </a:xfrm>
        </p:spPr>
        <p:txBody>
          <a:bodyPr/>
          <a:lstStyle/>
          <a:p>
            <a:r>
              <a:rPr lang="en-AU" sz="2400" dirty="0"/>
              <a:t>To assess the overall accuracy / performance of the model – </a:t>
            </a:r>
            <a:r>
              <a:rPr lang="en-US" altLang="en-AU" sz="2400" dirty="0">
                <a:solidFill>
                  <a:schemeClr val="accent1"/>
                </a:solidFill>
              </a:rPr>
              <a:t>MAE, MSE, RMSE,</a:t>
            </a:r>
            <a:r>
              <a:rPr lang="en-US" altLang="en-AU" sz="2400" dirty="0"/>
              <a:t> </a:t>
            </a:r>
            <a:r>
              <a:rPr lang="en-AU" sz="2400" dirty="0">
                <a:solidFill>
                  <a:schemeClr val="accent1"/>
                </a:solidFill>
              </a:rPr>
              <a:t>RSE, R</a:t>
            </a:r>
            <a:r>
              <a:rPr lang="en-AU" sz="2400" baseline="30000" dirty="0">
                <a:solidFill>
                  <a:schemeClr val="accent1"/>
                </a:solidFill>
              </a:rPr>
              <a:t>2</a:t>
            </a:r>
            <a:endParaRPr lang="en-AU" sz="2400" dirty="0">
              <a:solidFill>
                <a:schemeClr val="accent1"/>
              </a:solidFill>
            </a:endParaRPr>
          </a:p>
          <a:p>
            <a:pPr lvl="1"/>
            <a:r>
              <a:rPr lang="en-US" altLang="en-AU" dirty="0">
                <a:solidFill>
                  <a:srgbClr val="0070C0"/>
                </a:solidFill>
              </a:rPr>
              <a:t>Residual Standard Error (RSE)</a:t>
            </a:r>
            <a:r>
              <a:rPr lang="en-US" altLang="en-AU" dirty="0">
                <a:solidFill>
                  <a:schemeClr val="accent1"/>
                </a:solidFill>
              </a:rPr>
              <a:t> </a:t>
            </a:r>
            <a:r>
              <a:rPr lang="en-US" altLang="en-AU" dirty="0">
                <a:solidFill>
                  <a:schemeClr val="tx1"/>
                </a:solidFill>
              </a:rPr>
              <a:t>can be computed by</a:t>
            </a:r>
            <a:endParaRPr lang="en-US" altLang="en-AU" dirty="0">
              <a:solidFill>
                <a:schemeClr val="tx1"/>
              </a:solidFill>
            </a:endParaRPr>
          </a:p>
          <a:p>
            <a:endParaRPr lang="en-US" altLang="en-AU" sz="2400" dirty="0">
              <a:solidFill>
                <a:schemeClr val="tx1"/>
              </a:solidFill>
            </a:endParaRPr>
          </a:p>
          <a:p>
            <a:pPr marL="360045" lvl="1" indent="0">
              <a:buNone/>
            </a:pPr>
            <a:r>
              <a:rPr lang="en-US" altLang="en-AU" sz="2055" dirty="0">
                <a:solidFill>
                  <a:schemeClr val="tx1"/>
                </a:solidFill>
              </a:rPr>
              <a:t>   where the residual </a:t>
            </a:r>
            <a:r>
              <a:rPr lang="en-US" altLang="en-AU" sz="2055" dirty="0">
                <a:solidFill>
                  <a:srgbClr val="0070C0"/>
                </a:solidFill>
              </a:rPr>
              <a:t>sum-of-squares</a:t>
            </a:r>
            <a:r>
              <a:rPr lang="en-US" altLang="en-AU" sz="2055" dirty="0">
                <a:solidFill>
                  <a:schemeClr val="tx1"/>
                </a:solidFill>
              </a:rPr>
              <a:t> is </a:t>
            </a:r>
            <a:endParaRPr lang="en-US" altLang="en-AU" sz="2055" dirty="0">
              <a:solidFill>
                <a:schemeClr val="tx1"/>
              </a:solidFill>
            </a:endParaRPr>
          </a:p>
          <a:p>
            <a:pPr lvl="1"/>
            <a:r>
              <a:rPr lang="en-US" altLang="en-AU" dirty="0">
                <a:solidFill>
                  <a:srgbClr val="0070C0"/>
                </a:solidFill>
              </a:rPr>
              <a:t>R-squared(R</a:t>
            </a:r>
            <a:r>
              <a:rPr lang="en-US" altLang="en-AU" baseline="30000" dirty="0">
                <a:solidFill>
                  <a:srgbClr val="0070C0"/>
                </a:solidFill>
              </a:rPr>
              <a:t>2</a:t>
            </a:r>
            <a:r>
              <a:rPr lang="en-US" altLang="en-AU" dirty="0">
                <a:solidFill>
                  <a:srgbClr val="0070C0"/>
                </a:solidFill>
              </a:rPr>
              <a:t>)</a:t>
            </a:r>
            <a:r>
              <a:rPr lang="en-US" altLang="en-AU" dirty="0">
                <a:solidFill>
                  <a:schemeClr val="tx1"/>
                </a:solidFill>
              </a:rPr>
              <a:t> can be calculated by</a:t>
            </a:r>
            <a:endParaRPr lang="en-US" altLang="en-AU" dirty="0">
              <a:solidFill>
                <a:schemeClr val="tx1"/>
              </a:solidFill>
            </a:endParaRPr>
          </a:p>
          <a:p>
            <a:endParaRPr lang="zh-CN" altLang="en-US" sz="2400" dirty="0">
              <a:solidFill>
                <a:schemeClr val="tx1"/>
              </a:solidFill>
            </a:endParaRPr>
          </a:p>
          <a:p>
            <a:pPr marL="360045" lvl="1" indent="0">
              <a:buNone/>
            </a:pPr>
            <a:r>
              <a:rPr lang="en-US" altLang="zh-CN" sz="2055" dirty="0">
                <a:solidFill>
                  <a:schemeClr val="tx1"/>
                </a:solidFill>
              </a:rPr>
              <a:t>    where                              is the total sum of squares. </a:t>
            </a:r>
            <a:endParaRPr lang="en-US" altLang="zh-CN" sz="2055" dirty="0">
              <a:solidFill>
                <a:schemeClr val="tx1"/>
              </a:solidFill>
            </a:endParaRPr>
          </a:p>
        </p:txBody>
      </p:sp>
      <p:pic>
        <p:nvPicPr>
          <p:cNvPr id="4" name="Picture 3"/>
          <p:cNvPicPr>
            <a:picLocks noChangeAspect="1"/>
          </p:cNvPicPr>
          <p:nvPr/>
        </p:nvPicPr>
        <p:blipFill>
          <a:blip r:embed="rId1"/>
          <a:stretch>
            <a:fillRect/>
          </a:stretch>
        </p:blipFill>
        <p:spPr>
          <a:xfrm>
            <a:off x="1261110" y="2722245"/>
            <a:ext cx="4894580" cy="937260"/>
          </a:xfrm>
          <a:prstGeom prst="rect">
            <a:avLst/>
          </a:prstGeom>
        </p:spPr>
      </p:pic>
      <p:pic>
        <p:nvPicPr>
          <p:cNvPr id="5" name="Picture 4"/>
          <p:cNvPicPr>
            <a:picLocks noChangeAspect="1"/>
          </p:cNvPicPr>
          <p:nvPr/>
        </p:nvPicPr>
        <p:blipFill>
          <a:blip r:embed="rId2"/>
          <a:stretch>
            <a:fillRect/>
          </a:stretch>
        </p:blipFill>
        <p:spPr>
          <a:xfrm>
            <a:off x="5359400" y="3562350"/>
            <a:ext cx="2679700" cy="438785"/>
          </a:xfrm>
          <a:prstGeom prst="rect">
            <a:avLst/>
          </a:prstGeom>
        </p:spPr>
      </p:pic>
      <p:pic>
        <p:nvPicPr>
          <p:cNvPr id="6" name="Picture 5"/>
          <p:cNvPicPr>
            <a:picLocks noChangeAspect="1"/>
          </p:cNvPicPr>
          <p:nvPr/>
        </p:nvPicPr>
        <p:blipFill>
          <a:blip r:embed="rId3"/>
          <a:stretch>
            <a:fillRect/>
          </a:stretch>
        </p:blipFill>
        <p:spPr>
          <a:xfrm>
            <a:off x="3286760" y="4743450"/>
            <a:ext cx="3216910" cy="750570"/>
          </a:xfrm>
          <a:prstGeom prst="rect">
            <a:avLst/>
          </a:prstGeom>
        </p:spPr>
      </p:pic>
      <p:pic>
        <p:nvPicPr>
          <p:cNvPr id="8" name="Picture 7"/>
          <p:cNvPicPr>
            <a:picLocks noChangeAspect="1"/>
          </p:cNvPicPr>
          <p:nvPr/>
        </p:nvPicPr>
        <p:blipFill>
          <a:blip r:embed="rId4"/>
          <a:stretch>
            <a:fillRect/>
          </a:stretch>
        </p:blipFill>
        <p:spPr>
          <a:xfrm>
            <a:off x="1689100" y="5443220"/>
            <a:ext cx="2270760" cy="340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 Example</a:t>
            </a:r>
            <a:endParaRPr lang="en-AU" dirty="0"/>
          </a:p>
        </p:txBody>
      </p:sp>
      <p:sp>
        <p:nvSpPr>
          <p:cNvPr id="3" name="Text Placeholder 2"/>
          <p:cNvSpPr>
            <a:spLocks noGrp="1"/>
          </p:cNvSpPr>
          <p:nvPr>
            <p:ph type="body" idx="1"/>
          </p:nvPr>
        </p:nvSpPr>
        <p:spPr/>
        <p:txBody>
          <a:bodyPr/>
          <a:lstStyle/>
          <a:p>
            <a:endParaRPr lang="en-AU" dirty="0"/>
          </a:p>
          <a:p>
            <a:endParaRPr lang="en-AU" dirty="0"/>
          </a:p>
          <a:p>
            <a:endParaRPr lang="en-AU" dirty="0"/>
          </a:p>
          <a:p>
            <a:r>
              <a:rPr lang="en-US" altLang="en-AU" dirty="0"/>
              <a:t>What’s the range of each metric?</a:t>
            </a:r>
            <a:endParaRPr lang="en-US" altLang="en-AU" dirty="0"/>
          </a:p>
          <a:p>
            <a:pPr lvl="1"/>
            <a:r>
              <a:rPr lang="en-US" altLang="en-AU" dirty="0"/>
              <a:t>Higher/lower is better?</a:t>
            </a:r>
            <a:endParaRPr lang="en-US" altLang="en-AU" dirty="0"/>
          </a:p>
        </p:txBody>
      </p:sp>
      <p:graphicFrame>
        <p:nvGraphicFramePr>
          <p:cNvPr id="4" name="Table 3"/>
          <p:cNvGraphicFramePr>
            <a:graphicFrameLocks noGrp="1"/>
          </p:cNvGraphicFramePr>
          <p:nvPr/>
        </p:nvGraphicFramePr>
        <p:xfrm>
          <a:off x="1286933" y="1932940"/>
          <a:ext cx="6096000" cy="1102360"/>
        </p:xfrm>
        <a:graphic>
          <a:graphicData uri="http://schemas.openxmlformats.org/drawingml/2006/table">
            <a:tbl>
              <a:tblPr firstRow="1" bandRow="1">
                <a:tableStyleId>{5940675A-B579-460E-94D1-54222C63F5DA}</a:tableStyleId>
              </a:tblPr>
              <a:tblGrid>
                <a:gridCol w="3048000"/>
                <a:gridCol w="3048000"/>
              </a:tblGrid>
              <a:tr h="370840">
                <a:tc>
                  <a:txBody>
                    <a:bodyPr/>
                    <a:lstStyle/>
                    <a:p>
                      <a:pPr algn="ctr"/>
                      <a:r>
                        <a:rPr lang="en-US" altLang="en-AU" dirty="0"/>
                        <a:t>Evaluation</a:t>
                      </a:r>
                      <a:r>
                        <a:rPr lang="en-AU" dirty="0"/>
                        <a:t> Metrics</a:t>
                      </a:r>
                      <a:endParaRPr lang="en-AU" dirty="0"/>
                    </a:p>
                  </a:txBody>
                  <a:tcPr/>
                </a:tc>
                <a:tc>
                  <a:txBody>
                    <a:bodyPr/>
                    <a:lstStyle/>
                    <a:p>
                      <a:pPr algn="ctr"/>
                      <a:r>
                        <a:rPr lang="en-AU" dirty="0"/>
                        <a:t>Value</a:t>
                      </a:r>
                      <a:endParaRPr lang="en-AU" dirty="0"/>
                    </a:p>
                  </a:txBody>
                  <a:tcPr/>
                </a:tc>
              </a:tr>
              <a:tr h="185420">
                <a:tc>
                  <a:txBody>
                    <a:bodyPr/>
                    <a:lstStyle/>
                    <a:p>
                      <a:pPr algn="ctr"/>
                      <a:r>
                        <a:rPr lang="en-AU" dirty="0"/>
                        <a:t>RSE</a:t>
                      </a:r>
                      <a:endParaRPr lang="en-AU" dirty="0"/>
                    </a:p>
                  </a:txBody>
                  <a:tcPr/>
                </a:tc>
                <a:tc>
                  <a:txBody>
                    <a:bodyPr/>
                    <a:lstStyle/>
                    <a:p>
                      <a:pPr algn="ctr"/>
                      <a:r>
                        <a:rPr lang="en-AU" dirty="0"/>
                        <a:t>3.26</a:t>
                      </a:r>
                      <a:endParaRPr lang="en-AU" dirty="0"/>
                    </a:p>
                  </a:txBody>
                  <a:tcPr/>
                </a:tc>
              </a:tr>
              <a:tr h="185420">
                <a:tc>
                  <a:txBody>
                    <a:bodyPr/>
                    <a:lstStyle/>
                    <a:p>
                      <a:pPr algn="ctr"/>
                      <a:r>
                        <a:rPr lang="en-AU" dirty="0"/>
                        <a:t>R</a:t>
                      </a:r>
                      <a:r>
                        <a:rPr lang="en-AU" baseline="30000" dirty="0"/>
                        <a:t>2</a:t>
                      </a:r>
                      <a:endParaRPr lang="en-AU" dirty="0"/>
                    </a:p>
                  </a:txBody>
                  <a:tcPr/>
                </a:tc>
                <a:tc>
                  <a:txBody>
                    <a:bodyPr/>
                    <a:lstStyle/>
                    <a:p>
                      <a:pPr algn="ctr"/>
                      <a:r>
                        <a:rPr lang="en-AU" dirty="0"/>
                        <a:t>0.612</a:t>
                      </a:r>
                      <a:endParaRPr lang="en-AU"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Evaluation Metrics Summary</a:t>
            </a:r>
            <a:endParaRPr lang="en-US"/>
          </a:p>
        </p:txBody>
      </p:sp>
      <p:sp>
        <p:nvSpPr>
          <p:cNvPr id="3" name="Text Placeholder 2"/>
          <p:cNvSpPr>
            <a:spLocks noGrp="1"/>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140335" y="1544955"/>
            <a:ext cx="8769350" cy="40582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Multiple Linear Regression</a:t>
            </a:r>
            <a:endParaRPr lang="en-AU" dirty="0"/>
          </a:p>
        </p:txBody>
      </p:sp>
      <p:sp>
        <p:nvSpPr>
          <p:cNvPr id="3" name="Text Placeholder 2"/>
          <p:cNvSpPr>
            <a:spLocks noGrp="1"/>
          </p:cNvSpPr>
          <p:nvPr>
            <p:ph type="body" idx="1"/>
          </p:nvPr>
        </p:nvSpPr>
        <p:spPr/>
        <p:txBody>
          <a:bodyPr/>
          <a:lstStyle/>
          <a:p>
            <a:r>
              <a:rPr lang="en-AU" dirty="0"/>
              <a:t>  </a:t>
            </a:r>
            <a:endParaRPr lang="en-AU" dirty="0"/>
          </a:p>
        </p:txBody>
      </p:sp>
      <p:pic>
        <p:nvPicPr>
          <p:cNvPr id="5" name="Picture 4"/>
          <p:cNvPicPr>
            <a:picLocks noChangeAspect="1"/>
          </p:cNvPicPr>
          <p:nvPr/>
        </p:nvPicPr>
        <p:blipFill>
          <a:blip r:embed="rId1">
            <a:clrChange>
              <a:clrFrom>
                <a:srgbClr val="FFFFFF"/>
              </a:clrFrom>
              <a:clrTo>
                <a:srgbClr val="FFFFFF">
                  <a:alpha val="0"/>
                </a:srgbClr>
              </a:clrTo>
            </a:clrChange>
          </a:blip>
          <a:stretch>
            <a:fillRect/>
          </a:stretch>
        </p:blipFill>
        <p:spPr>
          <a:xfrm>
            <a:off x="742315" y="1170285"/>
            <a:ext cx="7402618" cy="30378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40" y="115570"/>
            <a:ext cx="9218295" cy="950595"/>
          </a:xfrm>
        </p:spPr>
        <p:txBody>
          <a:bodyPr>
            <a:normAutofit fontScale="90000"/>
          </a:bodyPr>
          <a:lstStyle/>
          <a:p>
            <a:r>
              <a:rPr lang="en-AU" dirty="0"/>
              <a:t>Estimation and Prediction for Multiple Regression</a:t>
            </a:r>
            <a:endParaRPr lang="en-AU" dirty="0"/>
          </a:p>
        </p:txBody>
      </p:sp>
      <p:sp>
        <p:nvSpPr>
          <p:cNvPr id="3" name="Text Placeholder 2"/>
          <p:cNvSpPr>
            <a:spLocks noGrp="1"/>
          </p:cNvSpPr>
          <p:nvPr>
            <p:ph type="body" idx="1"/>
          </p:nvPr>
        </p:nvSpPr>
        <p:spPr/>
        <p:txBody>
          <a:bodyPr/>
          <a:lstStyle/>
          <a:p>
            <a:r>
              <a:rPr lang="en-AU" dirty="0"/>
              <a:t>  </a:t>
            </a:r>
            <a:endParaRPr lang="en-AU" dirty="0"/>
          </a:p>
        </p:txBody>
      </p:sp>
      <p:pic>
        <p:nvPicPr>
          <p:cNvPr id="7" name="Picture 6"/>
          <p:cNvPicPr>
            <a:picLocks noChangeAspect="1"/>
          </p:cNvPicPr>
          <p:nvPr/>
        </p:nvPicPr>
        <p:blipFill>
          <a:blip r:embed="rId1">
            <a:clrChange>
              <a:clrFrom>
                <a:srgbClr val="FFFFFF"/>
              </a:clrFrom>
              <a:clrTo>
                <a:srgbClr val="FFFFFF">
                  <a:alpha val="0"/>
                </a:srgbClr>
              </a:clrTo>
            </a:clrChange>
          </a:blip>
          <a:stretch>
            <a:fillRect/>
          </a:stretch>
        </p:blipFill>
        <p:spPr>
          <a:xfrm>
            <a:off x="741997" y="1184414"/>
            <a:ext cx="7660005" cy="55058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Estimated Model</a:t>
            </a:r>
            <a:endParaRPr lang="en-AU" dirty="0"/>
          </a:p>
        </p:txBody>
      </p:sp>
      <p:sp>
        <p:nvSpPr>
          <p:cNvPr id="3" name="Text Placeholder 2"/>
          <p:cNvSpPr>
            <a:spLocks noGrp="1"/>
          </p:cNvSpPr>
          <p:nvPr>
            <p:ph type="body" idx="1"/>
          </p:nvPr>
        </p:nvSpPr>
        <p:spPr/>
        <p:txBody>
          <a:bodyPr>
            <a:normAutofit/>
          </a:bodyPr>
          <a:lstStyle/>
          <a:p>
            <a:r>
              <a:rPr lang="en-AU" sz="2400" dirty="0"/>
              <a:t>The estimated model for multiple regression in multi-dimensional space.</a:t>
            </a:r>
            <a:endParaRPr lang="en-AU" sz="2400" dirty="0"/>
          </a:p>
        </p:txBody>
      </p:sp>
      <p:pic>
        <p:nvPicPr>
          <p:cNvPr id="7" name="Picture 6"/>
          <p:cNvPicPr>
            <a:picLocks noChangeAspect="1"/>
          </p:cNvPicPr>
          <p:nvPr/>
        </p:nvPicPr>
        <p:blipFill>
          <a:blip r:embed="rId1"/>
          <a:stretch>
            <a:fillRect/>
          </a:stretch>
        </p:blipFill>
        <p:spPr>
          <a:xfrm>
            <a:off x="2612556" y="2326108"/>
            <a:ext cx="3918887" cy="410428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Some important questions</a:t>
            </a:r>
            <a:endParaRPr lang="en-AU" dirty="0"/>
          </a:p>
        </p:txBody>
      </p:sp>
      <p:sp>
        <p:nvSpPr>
          <p:cNvPr id="3" name="Text Placeholder 2"/>
          <p:cNvSpPr>
            <a:spLocks noGrp="1"/>
          </p:cNvSpPr>
          <p:nvPr>
            <p:ph type="body" idx="1"/>
          </p:nvPr>
        </p:nvSpPr>
        <p:spPr/>
        <p:txBody>
          <a:bodyPr>
            <a:normAutofit/>
          </a:bodyPr>
          <a:lstStyle/>
          <a:p>
            <a:pPr marL="457200" indent="-457200">
              <a:buFont typeface="+mj-lt"/>
              <a:buAutoNum type="arabicPeriod"/>
            </a:pPr>
            <a:r>
              <a:rPr lang="en-AU" sz="2400" dirty="0"/>
              <a:t>Is at least one of the features X</a:t>
            </a:r>
            <a:r>
              <a:rPr lang="en-AU" sz="2400" baseline="-25000" dirty="0"/>
              <a:t>1</a:t>
            </a:r>
            <a:r>
              <a:rPr lang="en-AU" sz="2400" dirty="0"/>
              <a:t>, X</a:t>
            </a:r>
            <a:r>
              <a:rPr lang="en-AU" sz="2400" baseline="-25000" dirty="0"/>
              <a:t>2</a:t>
            </a:r>
            <a:r>
              <a:rPr lang="en-AU" sz="2400" dirty="0"/>
              <a:t>, . . . , </a:t>
            </a:r>
            <a:r>
              <a:rPr lang="en-AU" sz="2400" dirty="0" err="1"/>
              <a:t>X</a:t>
            </a:r>
            <a:r>
              <a:rPr lang="en-AU" sz="2400" baseline="-25000" dirty="0" err="1"/>
              <a:t>p</a:t>
            </a:r>
            <a:r>
              <a:rPr lang="en-AU" sz="2400" dirty="0"/>
              <a:t> useful in predicting the response?</a:t>
            </a:r>
            <a:endParaRPr lang="en-AU" sz="2400" dirty="0"/>
          </a:p>
          <a:p>
            <a:pPr marL="457200" indent="-457200">
              <a:buFont typeface="+mj-lt"/>
              <a:buAutoNum type="arabicPeriod"/>
            </a:pPr>
            <a:r>
              <a:rPr lang="en-AU" sz="2400" dirty="0"/>
              <a:t>Do all the features help to explain Y , or is only a subset of the predictors useful?</a:t>
            </a:r>
            <a:endParaRPr lang="en-AU" sz="2400" dirty="0"/>
          </a:p>
          <a:p>
            <a:pPr marL="457200" indent="-457200">
              <a:buFont typeface="+mj-lt"/>
              <a:buAutoNum type="arabicPeriod"/>
            </a:pPr>
            <a:r>
              <a:rPr lang="en-AU" sz="2400" dirty="0"/>
              <a:t>How well does the model fit the data?</a:t>
            </a:r>
            <a:endParaRPr lang="en-AU" sz="2400" dirty="0"/>
          </a:p>
          <a:p>
            <a:pPr marL="457200" indent="-457200">
              <a:buFont typeface="+mj-lt"/>
              <a:buAutoNum type="arabicPeriod"/>
            </a:pPr>
            <a:r>
              <a:rPr lang="en-AU" sz="2400" dirty="0"/>
              <a:t>Given a set of feature values, what response value should we predict, and how accurate is our prediction?</a:t>
            </a:r>
            <a:endParaRPr lang="en-AU"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Important Variables</a:t>
            </a:r>
            <a:endParaRPr lang="en-AU" dirty="0"/>
          </a:p>
        </p:txBody>
      </p:sp>
      <p:sp>
        <p:nvSpPr>
          <p:cNvPr id="3" name="Text Placeholder 2"/>
          <p:cNvSpPr>
            <a:spLocks noGrp="1"/>
          </p:cNvSpPr>
          <p:nvPr>
            <p:ph type="body" idx="1"/>
          </p:nvPr>
        </p:nvSpPr>
        <p:spPr/>
        <p:txBody>
          <a:bodyPr>
            <a:normAutofit fontScale="77500" lnSpcReduction="20000"/>
          </a:bodyPr>
          <a:lstStyle/>
          <a:p>
            <a:r>
              <a:rPr lang="en-AU" dirty="0"/>
              <a:t>The most direct approach is called </a:t>
            </a:r>
            <a:r>
              <a:rPr lang="en-AU" dirty="0">
                <a:solidFill>
                  <a:schemeClr val="accent1"/>
                </a:solidFill>
              </a:rPr>
              <a:t>all subsets </a:t>
            </a:r>
            <a:r>
              <a:rPr lang="en-AU" dirty="0"/>
              <a:t>or </a:t>
            </a:r>
            <a:r>
              <a:rPr lang="en-AU" dirty="0">
                <a:solidFill>
                  <a:schemeClr val="accent1"/>
                </a:solidFill>
              </a:rPr>
              <a:t>best subsets</a:t>
            </a:r>
            <a:r>
              <a:rPr lang="en-AU" dirty="0"/>
              <a:t> regression: we compute the least squares fit for all possible subsets and then choose between them based on some criterion that balances training error with model size.</a:t>
            </a:r>
            <a:endParaRPr lang="en-AU" dirty="0"/>
          </a:p>
          <a:p>
            <a:r>
              <a:rPr lang="en-AU" dirty="0"/>
              <a:t>However we often can’t examine all possible models, since they are 2</a:t>
            </a:r>
            <a:r>
              <a:rPr lang="en-AU" baseline="30000" dirty="0"/>
              <a:t>p</a:t>
            </a:r>
            <a:r>
              <a:rPr lang="en-AU" dirty="0"/>
              <a:t> of them; for example when p = 40 there are over a billion models!</a:t>
            </a:r>
            <a:endParaRPr lang="en-AU" dirty="0"/>
          </a:p>
          <a:p>
            <a:pPr marL="0" indent="0">
              <a:buNone/>
            </a:pPr>
            <a:r>
              <a:rPr lang="en-AU" dirty="0"/>
              <a:t>    Instead, we need an automated approach that searches through a subset of them. We discuss two commonly use approaches next.</a:t>
            </a:r>
            <a:endParaRPr lang="en-AU" dirty="0"/>
          </a:p>
          <a:p>
            <a:endParaRPr lang="en-A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Python for Machine Learning</a:t>
            </a:r>
            <a:endParaRPr lang="en-AU" dirty="0"/>
          </a:p>
        </p:txBody>
      </p:sp>
      <p:sp>
        <p:nvSpPr>
          <p:cNvPr id="3" name="Text Placeholder 2"/>
          <p:cNvSpPr>
            <a:spLocks noGrp="1"/>
          </p:cNvSpPr>
          <p:nvPr>
            <p:ph type="body" idx="1"/>
          </p:nvPr>
        </p:nvSpPr>
        <p:spPr/>
        <p:txBody>
          <a:bodyPr>
            <a:normAutofit fontScale="70000" lnSpcReduction="20000"/>
          </a:bodyPr>
          <a:lstStyle/>
          <a:p>
            <a:r>
              <a:rPr lang="en-AU" dirty="0"/>
              <a:t>Fairly easy to read/write/process data using standard features </a:t>
            </a:r>
            <a:endParaRPr lang="en-AU" dirty="0"/>
          </a:p>
          <a:p>
            <a:r>
              <a:rPr lang="en-AU" dirty="0"/>
              <a:t>Frequently Used Packages</a:t>
            </a:r>
            <a:endParaRPr lang="en-AU" dirty="0"/>
          </a:p>
          <a:p>
            <a:pPr lvl="1"/>
            <a:r>
              <a:rPr lang="en-AU" dirty="0"/>
              <a:t>Numerical and statistical manipulations – </a:t>
            </a:r>
            <a:r>
              <a:rPr lang="en-AU" dirty="0">
                <a:solidFill>
                  <a:schemeClr val="accent1"/>
                </a:solidFill>
              </a:rPr>
              <a:t>numpy</a:t>
            </a:r>
            <a:r>
              <a:rPr lang="en-AU" baseline="30000" dirty="0">
                <a:solidFill>
                  <a:schemeClr val="accent1"/>
                </a:solidFill>
              </a:rPr>
              <a:t>1</a:t>
            </a:r>
            <a:endParaRPr lang="en-AU" baseline="30000" dirty="0">
              <a:solidFill>
                <a:schemeClr val="accent1"/>
              </a:solidFill>
            </a:endParaRPr>
          </a:p>
          <a:p>
            <a:pPr lvl="1"/>
            <a:r>
              <a:rPr lang="en-AU" dirty="0"/>
              <a:t>Visualization (“plotting”) – </a:t>
            </a:r>
            <a:r>
              <a:rPr lang="en-AU" dirty="0">
                <a:solidFill>
                  <a:schemeClr val="accent1"/>
                </a:solidFill>
              </a:rPr>
              <a:t>matplotlib</a:t>
            </a:r>
            <a:r>
              <a:rPr lang="en-AU" baseline="30000" dirty="0">
                <a:solidFill>
                  <a:schemeClr val="accent1"/>
                </a:solidFill>
              </a:rPr>
              <a:t>2</a:t>
            </a:r>
            <a:r>
              <a:rPr lang="en-AU" dirty="0">
                <a:solidFill>
                  <a:schemeClr val="accent1"/>
                </a:solidFill>
              </a:rPr>
              <a:t> </a:t>
            </a:r>
            <a:endParaRPr lang="en-AU" dirty="0">
              <a:solidFill>
                <a:schemeClr val="accent1"/>
              </a:solidFill>
            </a:endParaRPr>
          </a:p>
          <a:p>
            <a:pPr lvl="1"/>
            <a:r>
              <a:rPr lang="en-AU" dirty="0"/>
              <a:t> Relational database like capabilities – </a:t>
            </a:r>
            <a:r>
              <a:rPr lang="en-AU" dirty="0">
                <a:solidFill>
                  <a:schemeClr val="accent1"/>
                </a:solidFill>
              </a:rPr>
              <a:t>pandas</a:t>
            </a:r>
            <a:r>
              <a:rPr lang="en-AU" baseline="30000" dirty="0">
                <a:solidFill>
                  <a:schemeClr val="accent1"/>
                </a:solidFill>
              </a:rPr>
              <a:t>3</a:t>
            </a:r>
            <a:r>
              <a:rPr lang="en-AU" dirty="0"/>
              <a:t> </a:t>
            </a:r>
            <a:endParaRPr lang="en-AU" dirty="0"/>
          </a:p>
          <a:p>
            <a:pPr lvl="1"/>
            <a:r>
              <a:rPr lang="en-AU" dirty="0"/>
              <a:t>Machine learning - </a:t>
            </a:r>
            <a:r>
              <a:rPr lang="en-AU" dirty="0">
                <a:solidFill>
                  <a:schemeClr val="accent1"/>
                </a:solidFill>
              </a:rPr>
              <a:t>scikit-learn</a:t>
            </a:r>
            <a:r>
              <a:rPr lang="en-AU" baseline="30000" dirty="0">
                <a:solidFill>
                  <a:schemeClr val="accent1"/>
                </a:solidFill>
              </a:rPr>
              <a:t>4</a:t>
            </a:r>
            <a:r>
              <a:rPr lang="en-AU" dirty="0">
                <a:solidFill>
                  <a:schemeClr val="accent1"/>
                </a:solidFill>
              </a:rPr>
              <a:t>, tensorflow</a:t>
            </a:r>
            <a:r>
              <a:rPr lang="en-AU" baseline="30000" dirty="0">
                <a:solidFill>
                  <a:schemeClr val="accent1"/>
                </a:solidFill>
              </a:rPr>
              <a:t>5</a:t>
            </a:r>
            <a:r>
              <a:rPr lang="en-AU" dirty="0">
                <a:solidFill>
                  <a:schemeClr val="accent1"/>
                </a:solidFill>
              </a:rPr>
              <a:t>, pytorch</a:t>
            </a:r>
            <a:r>
              <a:rPr lang="en-AU" baseline="30000" dirty="0">
                <a:solidFill>
                  <a:schemeClr val="accent1"/>
                </a:solidFill>
              </a:rPr>
              <a:t>6</a:t>
            </a:r>
            <a:r>
              <a:rPr lang="en-AU" dirty="0">
                <a:solidFill>
                  <a:schemeClr val="accent1"/>
                </a:solidFill>
              </a:rPr>
              <a:t>, keras</a:t>
            </a:r>
            <a:r>
              <a:rPr lang="en-AU" baseline="30000" dirty="0">
                <a:solidFill>
                  <a:schemeClr val="accent1"/>
                </a:solidFill>
              </a:rPr>
              <a:t>7</a:t>
            </a:r>
            <a:endParaRPr lang="en-AU" baseline="30000" dirty="0">
              <a:solidFill>
                <a:schemeClr val="accent1"/>
              </a:solidFill>
            </a:endParaRPr>
          </a:p>
          <a:p>
            <a:pPr marL="817245" lvl="1" indent="-457200">
              <a:buAutoNum type="arabicPeriod"/>
            </a:pPr>
            <a:r>
              <a:rPr lang="en-AU" dirty="0">
                <a:solidFill>
                  <a:schemeClr val="accent1"/>
                </a:solidFill>
                <a:hlinkClick r:id="rId1"/>
              </a:rPr>
              <a:t>https://datadependence.com/2016/05/scientific-python-numpy/</a:t>
            </a:r>
            <a:endParaRPr lang="en-AU" dirty="0">
              <a:solidFill>
                <a:schemeClr val="accent1"/>
              </a:solidFill>
            </a:endParaRPr>
          </a:p>
          <a:p>
            <a:pPr marL="817245" lvl="1" indent="-457200">
              <a:buAutoNum type="arabicPeriod"/>
            </a:pPr>
            <a:r>
              <a:rPr lang="en-AU" dirty="0">
                <a:solidFill>
                  <a:schemeClr val="accent1"/>
                </a:solidFill>
                <a:hlinkClick r:id="rId2"/>
              </a:rPr>
              <a:t>https://datadependence.com/2016/04/scientific-python-matplotlib/</a:t>
            </a:r>
            <a:endParaRPr lang="en-AU" dirty="0">
              <a:solidFill>
                <a:schemeClr val="accent1"/>
              </a:solidFill>
            </a:endParaRPr>
          </a:p>
          <a:p>
            <a:pPr marL="817245" lvl="1" indent="-457200">
              <a:buAutoNum type="arabicPeriod"/>
            </a:pPr>
            <a:r>
              <a:rPr lang="en-AU" dirty="0">
                <a:solidFill>
                  <a:schemeClr val="accent1"/>
                </a:solidFill>
                <a:hlinkClick r:id="rId3"/>
              </a:rPr>
              <a:t>https://datadependence.com/2016/05/scientific-python-pandas/</a:t>
            </a:r>
            <a:endParaRPr lang="en-AU" dirty="0">
              <a:solidFill>
                <a:schemeClr val="accent1"/>
              </a:solidFill>
            </a:endParaRPr>
          </a:p>
          <a:p>
            <a:pPr marL="817245" lvl="1" indent="-457200">
              <a:buAutoNum type="arabicPeriod"/>
            </a:pPr>
            <a:r>
              <a:rPr lang="en-AU" dirty="0">
                <a:solidFill>
                  <a:schemeClr val="accent1"/>
                </a:solidFill>
                <a:hlinkClick r:id="rId4"/>
              </a:rPr>
              <a:t>https://scikit-learn.org/stable/tutorial/index.html</a:t>
            </a:r>
            <a:endParaRPr lang="en-AU" dirty="0">
              <a:solidFill>
                <a:schemeClr val="accent1"/>
              </a:solidFill>
            </a:endParaRPr>
          </a:p>
          <a:p>
            <a:pPr marL="817245" lvl="1" indent="-457200">
              <a:buAutoNum type="arabicPeriod"/>
            </a:pPr>
            <a:r>
              <a:rPr lang="en-AU" dirty="0">
                <a:solidFill>
                  <a:schemeClr val="accent1"/>
                </a:solidFill>
                <a:hlinkClick r:id="rId5"/>
              </a:rPr>
              <a:t>https://www.tensorflow.org/tutorials/quickstart/beginner</a:t>
            </a:r>
            <a:endParaRPr lang="en-AU" dirty="0">
              <a:solidFill>
                <a:schemeClr val="accent1"/>
              </a:solidFill>
            </a:endParaRPr>
          </a:p>
          <a:p>
            <a:pPr marL="817245" lvl="1" indent="-457200">
              <a:buAutoNum type="arabicPeriod"/>
            </a:pPr>
            <a:r>
              <a:rPr lang="en-AU" dirty="0">
                <a:solidFill>
                  <a:schemeClr val="accent1"/>
                </a:solidFill>
                <a:hlinkClick r:id="rId6"/>
              </a:rPr>
              <a:t>https://pytorch.org/tutorials/</a:t>
            </a:r>
            <a:endParaRPr lang="en-AU" dirty="0">
              <a:solidFill>
                <a:schemeClr val="accent1"/>
              </a:solidFill>
            </a:endParaRPr>
          </a:p>
          <a:p>
            <a:pPr marL="817245" lvl="1" indent="-457200">
              <a:buAutoNum type="arabicPeriod"/>
            </a:pPr>
            <a:r>
              <a:rPr lang="en-AU" dirty="0">
                <a:solidFill>
                  <a:schemeClr val="accent1"/>
                </a:solidFill>
                <a:hlinkClick r:id="rId7"/>
              </a:rPr>
              <a:t>https://keras.io/api/</a:t>
            </a:r>
            <a:endParaRPr lang="en-AU" dirty="0">
              <a:solidFill>
                <a:schemeClr val="accent1"/>
              </a:solidFill>
            </a:endParaRPr>
          </a:p>
          <a:p>
            <a:pPr marL="360045" lvl="1" indent="0">
              <a:buNone/>
            </a:pPr>
            <a:endParaRPr lang="en-AU" dirty="0">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endParaRPr lang="en-US"/>
          </a:p>
        </p:txBody>
      </p:sp>
      <p:sp>
        <p:nvSpPr>
          <p:cNvPr id="3" name="Text Placeholder 2"/>
          <p:cNvSpPr>
            <a:spLocks noGrp="1"/>
          </p:cNvSpPr>
          <p:nvPr>
            <p:ph type="body" idx="1"/>
          </p:nvPr>
        </p:nvSpPr>
        <p:spPr/>
        <p:txBody>
          <a:bodyPr>
            <a:normAutofit fontScale="95000"/>
          </a:bodyPr>
          <a:lstStyle/>
          <a:p>
            <a:pPr eaLnBrk="1" hangingPunct="1"/>
            <a:r>
              <a:rPr lang="en-AU" sz="2400" dirty="0"/>
              <a:t>Simple Linear Regression</a:t>
            </a:r>
            <a:endParaRPr sz="2400" dirty="0"/>
          </a:p>
          <a:p>
            <a:pPr lvl="1" eaLnBrk="1" hangingPunct="1">
              <a:lnSpc>
                <a:spcPct val="120000"/>
              </a:lnSpc>
            </a:pPr>
            <a:r>
              <a:rPr lang="en-AU" dirty="0"/>
              <a:t>Loss function</a:t>
            </a:r>
            <a:endParaRPr lang="en-AU" dirty="0"/>
          </a:p>
          <a:p>
            <a:pPr lvl="1" eaLnBrk="1" hangingPunct="1">
              <a:lnSpc>
                <a:spcPct val="120000"/>
              </a:lnSpc>
            </a:pPr>
            <a:r>
              <a:rPr lang="en-AU" dirty="0"/>
              <a:t>An example</a:t>
            </a:r>
            <a:endParaRPr lang="en-AU" dirty="0"/>
          </a:p>
          <a:p>
            <a:pPr lvl="1" eaLnBrk="1" hangingPunct="1">
              <a:lnSpc>
                <a:spcPct val="120000"/>
              </a:lnSpc>
            </a:pPr>
            <a:r>
              <a:rPr lang="en-AU" dirty="0"/>
              <a:t>Measurements: RSE, R</a:t>
            </a:r>
            <a:r>
              <a:rPr lang="en-AU" baseline="30000" dirty="0"/>
              <a:t>2</a:t>
            </a:r>
            <a:endParaRPr lang="en-AU" dirty="0"/>
          </a:p>
          <a:p>
            <a:pPr>
              <a:lnSpc>
                <a:spcPct val="120000"/>
              </a:lnSpc>
            </a:pPr>
            <a:r>
              <a:rPr lang="en-AU" dirty="0"/>
              <a:t>Multiple Linear Regression</a:t>
            </a:r>
            <a:endParaRPr lang="en-AU" dirty="0"/>
          </a:p>
          <a:p>
            <a:pPr eaLnBrk="1" hangingPunct="1">
              <a:lnSpc>
                <a:spcPct val="120000"/>
              </a:lnSpc>
            </a:pPr>
            <a:endParaRPr sz="2400" dirty="0"/>
          </a:p>
          <a:p>
            <a:pPr eaLnBrk="1" hangingPunct="1">
              <a:lnSpc>
                <a:spcPct val="120000"/>
              </a:lnSpc>
              <a:buNone/>
            </a:pPr>
            <a:endParaRPr sz="2400" dirty="0"/>
          </a:p>
          <a:p>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Subtitle 4"/>
          <p:cNvSpPr>
            <a:spLocks noGrp="1"/>
          </p:cNvSpPr>
          <p:nvPr>
            <p:ph type="subTitle" idx="1"/>
          </p:nvPr>
        </p:nvSpPr>
        <p:spPr>
          <a:xfrm>
            <a:off x="4783455" y="1852930"/>
            <a:ext cx="4160520" cy="3023711"/>
          </a:xfrm>
        </p:spPr>
        <p:txBody>
          <a:bodyPr>
            <a:normAutofit/>
          </a:bodyPr>
          <a:lstStyle/>
          <a:p>
            <a:r>
              <a:rPr lang="en-US" altLang="en-AU" sz="1200" dirty="0">
                <a:sym typeface="+mn-ea"/>
                <a:hlinkClick r:id="rId1"/>
              </a:rPr>
              <a:t>https://www.statlearning.com/resources-python</a:t>
            </a:r>
            <a:endParaRPr lang="en-US" altLang="en-AU" sz="1200" dirty="0">
              <a:hlinkClick r:id="rId2"/>
            </a:endParaRPr>
          </a:p>
          <a:p>
            <a:r>
              <a:rPr lang="en-US" altLang="en-AU" sz="1200" dirty="0">
                <a:hlinkClick r:id="rId2"/>
              </a:rPr>
              <a:t>https://www.statlearning.com/</a:t>
            </a:r>
            <a:endParaRPr lang="en-US" altLang="en-AU" sz="1200" dirty="0"/>
          </a:p>
          <a:p>
            <a:r>
              <a:rPr lang="en-AU" sz="1100" b="0" dirty="0">
                <a:solidFill>
                  <a:srgbClr val="000000"/>
                </a:solidFill>
                <a:effectLst/>
                <a:latin typeface="Poppins" panose="020B0502040204020203" pitchFamily="2" charset="0"/>
              </a:rPr>
              <a:t>Gareth James, </a:t>
            </a:r>
            <a:r>
              <a:rPr lang="en-AU" sz="1100" b="0" dirty="0" err="1">
                <a:solidFill>
                  <a:srgbClr val="000000"/>
                </a:solidFill>
                <a:effectLst/>
                <a:latin typeface="Poppins" panose="020B0502040204020203" pitchFamily="2" charset="0"/>
              </a:rPr>
              <a:t>etl</a:t>
            </a:r>
            <a:r>
              <a:rPr lang="en-AU" sz="1100" b="0" dirty="0">
                <a:solidFill>
                  <a:srgbClr val="000000"/>
                </a:solidFill>
                <a:effectLst/>
                <a:latin typeface="Poppins" panose="020B0502040204020203" pitchFamily="2" charset="0"/>
              </a:rPr>
              <a:t>., ‘An Introduction to Statistical Learning: with Applications in Python’</a:t>
            </a:r>
            <a:r>
              <a:rPr lang="en-US" sz="1200" b="0" dirty="0">
                <a:solidFill>
                  <a:srgbClr val="000000"/>
                </a:solidFill>
                <a:effectLst/>
                <a:latin typeface="Poppins" panose="020B0502040204020203" pitchFamily="2" charset="0"/>
              </a:rPr>
              <a:t>, Springer, 2023</a:t>
            </a:r>
            <a:endParaRPr lang="en-US" altLang="en-AU" sz="1200" dirty="0"/>
          </a:p>
        </p:txBody>
      </p:sp>
      <p:cxnSp>
        <p:nvCxnSpPr>
          <p:cNvPr id="37" name="Straight Connector 36"/>
          <p:cNvCxnSpPr>
            <a:cxnSpLocks noGrp="1" noRot="1" noChangeAspect="1" noMove="1" noResize="1" noEditPoints="1" noAdjustHandles="1" noChangeArrowheads="1" noChangeShapeType="1"/>
          </p:cNvCxnSpPr>
          <p:nvPr/>
        </p:nvCxnSpPr>
        <p:spPr>
          <a:xfrm>
            <a:off x="6661327" y="3625403"/>
            <a:ext cx="405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stretch>
            <a:fillRect/>
          </a:stretch>
        </p:blipFill>
        <p:spPr>
          <a:xfrm>
            <a:off x="1091237" y="1747502"/>
            <a:ext cx="2767570" cy="4253248"/>
          </a:xfrm>
          <a:prstGeom prst="rect">
            <a:avLst/>
          </a:prstGeom>
        </p:spPr>
      </p:pic>
      <p:sp>
        <p:nvSpPr>
          <p:cNvPr id="6" name="Title 1"/>
          <p:cNvSpPr>
            <a:spLocks noGrp="1"/>
          </p:cNvSpPr>
          <p:nvPr/>
        </p:nvSpPr>
        <p:spPr>
          <a:xfrm>
            <a:off x="742315" y="31750"/>
            <a:ext cx="7660005" cy="950595"/>
          </a:xfrm>
          <a:prstGeom prst="rect">
            <a:avLst/>
          </a:prstGeom>
        </p:spPr>
        <p:txBody>
          <a:bodyPr vert="horz" lIns="91440" tIns="45720" rIns="91440" bIns="45720" rtlCol="0" anchor="ctr" anchorCtr="0">
            <a:normAutofit/>
          </a:bodyPr>
          <a:lstStyle>
            <a:lvl1pPr algn="ctr"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a:t>References </a:t>
            </a:r>
            <a:endParaRPr lang="en-US"/>
          </a:p>
        </p:txBody>
      </p:sp>
    </p:spTree>
  </p:cSld>
  <p:clrMapOvr>
    <a:masterClrMapping/>
  </p:clrMapOvr>
</p:sld>
</file>

<file path=ppt/theme/theme1.xml><?xml version="1.0" encoding="utf-8"?>
<a:theme xmlns:a="http://schemas.openxmlformats.org/drawingml/2006/main" name="FrostyVTI">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5369</Words>
  <Application>WPS Presentation</Application>
  <PresentationFormat>On-screen Show (4:3)</PresentationFormat>
  <Paragraphs>185</Paragraphs>
  <Slides>22</Slides>
  <Notes>1</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22</vt:i4>
      </vt:variant>
    </vt:vector>
  </HeadingPairs>
  <TitlesOfParts>
    <vt:vector size="47" baseType="lpstr">
      <vt:lpstr>Arial</vt:lpstr>
      <vt:lpstr>SimSun</vt:lpstr>
      <vt:lpstr>Wingdings</vt:lpstr>
      <vt:lpstr>Arial Regular</vt:lpstr>
      <vt:lpstr>Wingdings</vt:lpstr>
      <vt:lpstr>Tahoma</vt:lpstr>
      <vt:lpstr>Candara</vt:lpstr>
      <vt:lpstr>苹方-简</vt:lpstr>
      <vt:lpstr>Arial Bold</vt:lpstr>
      <vt:lpstr>Cambria Math</vt:lpstr>
      <vt:lpstr>Kingsoft Math</vt:lpstr>
      <vt:lpstr>Avenir Next LT Pro</vt:lpstr>
      <vt:lpstr>Goudy Old Style</vt:lpstr>
      <vt:lpstr>Microsoft YaHei</vt:lpstr>
      <vt:lpstr>汉仪旗黑</vt:lpstr>
      <vt:lpstr>Arial Unicode MS</vt:lpstr>
      <vt:lpstr>Calibri</vt:lpstr>
      <vt:lpstr>Helvetica Neue</vt:lpstr>
      <vt:lpstr>Poppins</vt:lpstr>
      <vt:lpstr>DejaVu Math TeX Gyre</vt:lpstr>
      <vt:lpstr>宋体-简</vt:lpstr>
      <vt:lpstr>BatangChe</vt:lpstr>
      <vt:lpstr>Apple SD Gothic Neo</vt:lpstr>
      <vt:lpstr>DejaVuMathTeXGyre</vt:lpstr>
      <vt:lpstr>FrostyVTI</vt:lpstr>
      <vt:lpstr>HIT391  MACHINE LEARNING: ADVANCEMENTS AND APPLICATIONS</vt:lpstr>
      <vt:lpstr>Week 5: Supervised Learning - Linear Regression</vt:lpstr>
      <vt:lpstr>Supervised Learning</vt:lpstr>
      <vt:lpstr>Linear Regression</vt:lpstr>
      <vt:lpstr>PowerPoint 演示文稿</vt:lpstr>
      <vt:lpstr>An Example</vt:lpstr>
      <vt:lpstr>An Example on Advertising Data</vt:lpstr>
      <vt:lpstr>Simple Linear Regression</vt:lpstr>
      <vt:lpstr>Loss Function</vt:lpstr>
      <vt:lpstr>An Example</vt:lpstr>
      <vt:lpstr>Evaluation Metrics</vt:lpstr>
      <vt:lpstr>Measurements - Accuracy</vt:lpstr>
      <vt:lpstr>An Example</vt:lpstr>
      <vt:lpstr>PowerPoint 演示文稿</vt:lpstr>
      <vt:lpstr>Multiple Linear Regression</vt:lpstr>
      <vt:lpstr>Estimation and Prediction for Multiple Regression</vt:lpstr>
      <vt:lpstr>The Estimated Model</vt:lpstr>
      <vt:lpstr>Some important questions</vt:lpstr>
      <vt:lpstr>Important Variables</vt:lpstr>
      <vt:lpstr>Python for Machine Learning</vt:lpstr>
      <vt:lpstr>Summary</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PRT 565 : MACHINE LEARNING AND ARTIFICIAL INTELLIGENCE</dc:title>
  <dc:creator>Asif Karim</dc:creator>
  <cp:lastModifiedBy>Yan Zhang</cp:lastModifiedBy>
  <cp:revision>146</cp:revision>
  <dcterms:created xsi:type="dcterms:W3CDTF">2025-03-31T04:22:47Z</dcterms:created>
  <dcterms:modified xsi:type="dcterms:W3CDTF">2025-03-31T04:22:47Z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1033-6.10.0.8196</vt:lpwstr>
  </property>
  <property fmtid="{D5CDD505-2E9C-101B-9397-08002B2CF9AE}" pid="3" name="ICV">
    <vt:lpwstr>4C73841C8C0DD94BF95CE96754CF6AA5_42</vt:lpwstr>
  </property>
</Properties>
</file>